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6858000" cy="9144000"/>
  <p:embeddedFontLst>
    <p:embeddedFont>
      <p:font typeface="Lato" panose="020F0502020204030203" pitchFamily="34" charset="0"/>
      <p:regular r:id="rId12"/>
      <p:bold r:id="rId13"/>
      <p:italic r:id="rId14"/>
      <p:boldItalic r:id="rId15"/>
    </p:embeddedFont>
    <p:embeddedFont>
      <p:font typeface="Raleway" pitchFamily="2" charset="0"/>
      <p:regular r:id="rId16"/>
      <p:bold r:id="rId17"/>
      <p:italic r:id="rId18"/>
      <p:bold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4" roundtripDataSignature="AMtx7mitegp6FojlKnNXbWliX+OovQMF+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C06834B-A0B4-46C9-BAB2-CA101E9CCDFA}">
  <a:tblStyle styleId="{0C06834B-A0B4-46C9-BAB2-CA101E9CCDFA}" styleName="Table_0">
    <a:wholeTbl>
      <a:tcTxStyle b="off" i="off">
        <a:font>
          <a:latin typeface="Arial"/>
          <a:ea typeface="Arial"/>
          <a:cs typeface="Arial"/>
        </a:font>
        <a:schemeClr val="dk1"/>
      </a:tcTxStyle>
      <a:tcStyle>
        <a:tcBdr>
          <a:left>
            <a:ln w="9525" cap="flat" cmpd="sng">
              <a:solidFill>
                <a:schemeClr val="accent1"/>
              </a:solidFill>
              <a:prstDash val="solid"/>
              <a:round/>
              <a:headEnd type="none" w="sm" len="sm"/>
              <a:tailEnd type="none" w="sm" len="sm"/>
            </a:ln>
          </a:left>
          <a:right>
            <a:ln w="9525" cap="flat" cmpd="sng">
              <a:solidFill>
                <a:schemeClr val="accent1"/>
              </a:solidFill>
              <a:prstDash val="solid"/>
              <a:round/>
              <a:headEnd type="none" w="sm" len="sm"/>
              <a:tailEnd type="none" w="sm" len="sm"/>
            </a:ln>
          </a:right>
          <a:top>
            <a:ln w="9525" cap="flat" cmpd="sng">
              <a:solidFill>
                <a:schemeClr val="accent1"/>
              </a:solidFill>
              <a:prstDash val="solid"/>
              <a:round/>
              <a:headEnd type="none" w="sm" len="sm"/>
              <a:tailEnd type="none" w="sm" len="sm"/>
            </a:ln>
          </a:top>
          <a:bottom>
            <a:ln w="9525" cap="flat" cmpd="sng">
              <a:solidFill>
                <a:schemeClr val="accent1"/>
              </a:solidFill>
              <a:prstDash val="solid"/>
              <a:round/>
              <a:headEnd type="none" w="sm" len="sm"/>
              <a:tailEnd type="none" w="sm" len="sm"/>
            </a:ln>
          </a:bottom>
          <a:insideH>
            <a:ln w="9525" cap="flat" cmpd="sng">
              <a:solidFill>
                <a:schemeClr val="accent1"/>
              </a:solidFill>
              <a:prstDash val="solid"/>
              <a:round/>
              <a:headEnd type="none" w="sm" len="sm"/>
              <a:tailEnd type="none" w="sm" len="sm"/>
            </a:ln>
          </a:insideH>
          <a:insideV>
            <a:ln w="9525" cap="flat" cmpd="sng">
              <a:solidFill>
                <a:schemeClr val="accent1"/>
              </a:solidFill>
              <a:prstDash val="solid"/>
              <a:round/>
              <a:headEnd type="none" w="sm" len="sm"/>
              <a:tailEnd type="none" w="sm" len="sm"/>
            </a:ln>
          </a:insideV>
        </a:tcBdr>
        <a:fill>
          <a:solidFill>
            <a:srgbClr val="FFFFFF">
              <a:alpha val="0"/>
            </a:srgbClr>
          </a:solidFill>
        </a:fill>
      </a:tcStyle>
    </a:wholeTbl>
    <a:band1H>
      <a:tcTxStyle/>
      <a:tcStyle>
        <a:tcBdr/>
        <a:fill>
          <a:solidFill>
            <a:schemeClr val="accent1">
              <a:alpha val="40000"/>
            </a:schemeClr>
          </a:solidFill>
        </a:fill>
      </a:tcStyle>
    </a:band1H>
    <a:band2H>
      <a:tcTxStyle/>
      <a:tcStyle>
        <a:tcBdr/>
      </a:tcStyle>
    </a:band2H>
    <a:band1V>
      <a:tcTxStyle/>
      <a:tcStyle>
        <a:tcBdr>
          <a:top>
            <a:ln w="9525" cap="flat" cmpd="sng">
              <a:solidFill>
                <a:schemeClr val="accent1"/>
              </a:solidFill>
              <a:prstDash val="solid"/>
              <a:round/>
              <a:headEnd type="none" w="sm" len="sm"/>
              <a:tailEnd type="none" w="sm" len="sm"/>
            </a:ln>
          </a:top>
          <a:bottom>
            <a:ln w="9525" cap="flat" cmpd="sng">
              <a:solidFill>
                <a:schemeClr val="accent1"/>
              </a:solidFill>
              <a:prstDash val="solid"/>
              <a:round/>
              <a:headEnd type="none" w="sm" len="sm"/>
              <a:tailEnd type="none" w="sm" len="sm"/>
            </a:ln>
          </a:bottom>
        </a:tcBdr>
        <a:fill>
          <a:solidFill>
            <a:schemeClr val="accent1">
              <a:alpha val="40000"/>
            </a:schemeClr>
          </a:solidFill>
        </a:fill>
      </a:tcStyle>
    </a:band1V>
    <a:band2V>
      <a:tcTxStyle/>
      <a:tcStyle>
        <a:tcBdr/>
      </a:tcStyle>
    </a:band2V>
    <a:lastCol>
      <a:tcTxStyle b="on" i="off"/>
      <a:tcStyle>
        <a:tcBdr>
          <a:left>
            <a:ln w="9525" cap="flat" cmpd="sng">
              <a:solidFill>
                <a:schemeClr val="accent1"/>
              </a:solidFill>
              <a:prstDash val="solid"/>
              <a:round/>
              <a:headEnd type="none" w="sm" len="sm"/>
              <a:tailEnd type="none" w="sm" len="sm"/>
            </a:ln>
          </a:left>
          <a:right>
            <a:ln w="9525" cap="flat" cmpd="sng">
              <a:solidFill>
                <a:schemeClr val="accent1"/>
              </a:solidFill>
              <a:prstDash val="solid"/>
              <a:round/>
              <a:headEnd type="none" w="sm" len="sm"/>
              <a:tailEnd type="none" w="sm" len="sm"/>
            </a:ln>
          </a:right>
          <a:top>
            <a:ln w="9525" cap="flat" cmpd="sng">
              <a:solidFill>
                <a:schemeClr val="accent1"/>
              </a:solidFill>
              <a:prstDash val="solid"/>
              <a:round/>
              <a:headEnd type="none" w="sm" len="sm"/>
              <a:tailEnd type="none" w="sm" len="sm"/>
            </a:ln>
          </a:top>
          <a:bottom>
            <a:ln w="9525" cap="flat" cmpd="sng">
              <a:solidFill>
                <a:schemeClr val="accent1"/>
              </a:solidFill>
              <a:prstDash val="solid"/>
              <a:round/>
              <a:headEnd type="none" w="sm" len="sm"/>
              <a:tailEnd type="none" w="sm" len="sm"/>
            </a:ln>
          </a:bottom>
          <a:insideH>
            <a:ln w="9525" cap="flat" cmpd="sng">
              <a:solidFill>
                <a:schemeClr val="accent1"/>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tcStyle>
    </a:lastCol>
    <a:firstCol>
      <a:tcTxStyle b="on" i="off"/>
      <a:tcStyle>
        <a:tcBdr>
          <a:left>
            <a:ln w="9525" cap="flat" cmpd="sng">
              <a:solidFill>
                <a:schemeClr val="accent1"/>
              </a:solidFill>
              <a:prstDash val="solid"/>
              <a:round/>
              <a:headEnd type="none" w="sm" len="sm"/>
              <a:tailEnd type="none" w="sm" len="sm"/>
            </a:ln>
          </a:left>
          <a:right>
            <a:ln w="9525" cap="flat" cmpd="sng">
              <a:solidFill>
                <a:schemeClr val="accent1"/>
              </a:solidFill>
              <a:prstDash val="solid"/>
              <a:round/>
              <a:headEnd type="none" w="sm" len="sm"/>
              <a:tailEnd type="none" w="sm" len="sm"/>
            </a:ln>
          </a:right>
          <a:top>
            <a:ln w="9525" cap="flat" cmpd="sng">
              <a:solidFill>
                <a:schemeClr val="accent1"/>
              </a:solidFill>
              <a:prstDash val="solid"/>
              <a:round/>
              <a:headEnd type="none" w="sm" len="sm"/>
              <a:tailEnd type="none" w="sm" len="sm"/>
            </a:ln>
          </a:top>
          <a:bottom>
            <a:ln w="9525" cap="flat" cmpd="sng">
              <a:solidFill>
                <a:schemeClr val="accent1"/>
              </a:solidFill>
              <a:prstDash val="solid"/>
              <a:round/>
              <a:headEnd type="none" w="sm" len="sm"/>
              <a:tailEnd type="none" w="sm" len="sm"/>
            </a:ln>
          </a:bottom>
          <a:insideH>
            <a:ln w="9525" cap="flat" cmpd="sng">
              <a:solidFill>
                <a:schemeClr val="accent1"/>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tcStyle>
    </a:firstCol>
    <a:lastRow>
      <a:tcTxStyle b="on" i="off"/>
      <a:tcStyle>
        <a:tcBdr>
          <a:left>
            <a:ln w="9525" cap="flat" cmpd="sng">
              <a:solidFill>
                <a:schemeClr val="accent1"/>
              </a:solidFill>
              <a:prstDash val="solid"/>
              <a:round/>
              <a:headEnd type="none" w="sm" len="sm"/>
              <a:tailEnd type="none" w="sm" len="sm"/>
            </a:ln>
          </a:left>
          <a:right>
            <a:ln w="9525" cap="flat" cmpd="sng">
              <a:solidFill>
                <a:schemeClr val="accent1"/>
              </a:solidFill>
              <a:prstDash val="solid"/>
              <a:round/>
              <a:headEnd type="none" w="sm" len="sm"/>
              <a:tailEnd type="none" w="sm" len="sm"/>
            </a:ln>
          </a:right>
          <a:top>
            <a:ln w="9525" cap="flat" cmpd="sng">
              <a:solidFill>
                <a:schemeClr val="accent1"/>
              </a:solidFill>
              <a:prstDash val="solid"/>
              <a:round/>
              <a:headEnd type="none" w="sm" len="sm"/>
              <a:tailEnd type="none" w="sm" len="sm"/>
            </a:ln>
          </a:top>
          <a:bottom>
            <a:ln w="9525" cap="flat" cmpd="sng">
              <a:solidFill>
                <a:schemeClr val="accent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left>
            <a:ln w="9525" cap="flat" cmpd="sng">
              <a:solidFill>
                <a:schemeClr val="accent1"/>
              </a:solidFill>
              <a:prstDash val="solid"/>
              <a:round/>
              <a:headEnd type="none" w="sm" len="sm"/>
              <a:tailEnd type="none" w="sm" len="sm"/>
            </a:ln>
          </a:left>
          <a:right>
            <a:ln w="9525" cap="flat" cmpd="sng">
              <a:solidFill>
                <a:schemeClr val="accent1"/>
              </a:solidFill>
              <a:prstDash val="solid"/>
              <a:round/>
              <a:headEnd type="none" w="sm" len="sm"/>
              <a:tailEnd type="none" w="sm" len="sm"/>
            </a:ln>
          </a:right>
          <a:top>
            <a:ln w="9525" cap="flat" cmpd="sng">
              <a:solidFill>
                <a:schemeClr val="accent1"/>
              </a:solidFill>
              <a:prstDash val="solid"/>
              <a:round/>
              <a:headEnd type="none" w="sm" len="sm"/>
              <a:tailEnd type="none" w="sm" len="sm"/>
            </a:ln>
          </a:top>
          <a:bottom>
            <a:ln w="9525" cap="flat" cmpd="sng">
              <a:solidFill>
                <a:schemeClr val="lt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5" d="100"/>
          <a:sy n="135" d="100"/>
        </p:scale>
        <p:origin x="888" y="12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26"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customschemas.google.com/relationships/presentationmetadata" Target="metadata"/><Relationship Id="rId5" Type="http://schemas.openxmlformats.org/officeDocument/2006/relationships/slide" Target="slides/slide4.xml"/><Relationship Id="rId15" Type="http://schemas.openxmlformats.org/officeDocument/2006/relationships/font" Target="fonts/font4.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4" name="Google Shape;8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3" name="Google Shape;103;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1" name="Google Shape;111;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 name="Google Shape;119;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5" name="Google Shape;13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3" name="Google Shape;143;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g3a8ba25ead9_0_81"/>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g3a8ba25ead9_0_81"/>
          <p:cNvGrpSpPr/>
          <p:nvPr/>
        </p:nvGrpSpPr>
        <p:grpSpPr>
          <a:xfrm>
            <a:off x="830392" y="1191256"/>
            <a:ext cx="745763" cy="45826"/>
            <a:chOff x="4580561" y="2589004"/>
            <a:chExt cx="1064464" cy="25200"/>
          </a:xfrm>
        </p:grpSpPr>
        <p:sp>
          <p:nvSpPr>
            <p:cNvPr id="12" name="Google Shape;12;g3a8ba25ead9_0_81"/>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g3a8ba25ead9_0_81"/>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g3a8ba25ead9_0_81"/>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5" name="Google Shape;15;g3a8ba25ead9_0_81"/>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6" name="Google Shape;16;g3a8ba25ead9_0_8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7"/>
        <p:cNvGrpSpPr/>
        <p:nvPr/>
      </p:nvGrpSpPr>
      <p:grpSpPr>
        <a:xfrm>
          <a:off x="0" y="0"/>
          <a:ext cx="0" cy="0"/>
          <a:chOff x="0" y="0"/>
          <a:chExt cx="0" cy="0"/>
        </a:xfrm>
      </p:grpSpPr>
      <p:grpSp>
        <p:nvGrpSpPr>
          <p:cNvPr id="18" name="Google Shape;18;g3a8ba25ead9_0_89"/>
          <p:cNvGrpSpPr/>
          <p:nvPr/>
        </p:nvGrpSpPr>
        <p:grpSpPr>
          <a:xfrm>
            <a:off x="830392" y="1191256"/>
            <a:ext cx="745763" cy="45826"/>
            <a:chOff x="4580561" y="2589004"/>
            <a:chExt cx="1064464" cy="25200"/>
          </a:xfrm>
        </p:grpSpPr>
        <p:sp>
          <p:nvSpPr>
            <p:cNvPr id="19" name="Google Shape;19;g3a8ba25ead9_0_89"/>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g3a8ba25ead9_0_89"/>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g3a8ba25ead9_0_89"/>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22" name="Google Shape;22;g3a8ba25ead9_0_8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g3a8ba25ead9_0_9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g3a8ba25ead9_0_95"/>
          <p:cNvGrpSpPr/>
          <p:nvPr/>
        </p:nvGrpSpPr>
        <p:grpSpPr>
          <a:xfrm>
            <a:off x="830392" y="1191256"/>
            <a:ext cx="745763" cy="45826"/>
            <a:chOff x="4580561" y="2589004"/>
            <a:chExt cx="1064464" cy="25200"/>
          </a:xfrm>
        </p:grpSpPr>
        <p:sp>
          <p:nvSpPr>
            <p:cNvPr id="26" name="Google Shape;26;g3a8ba25ead9_0_9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g3a8ba25ead9_0_9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28;g3a8ba25ead9_0_9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29" name="Google Shape;29;g3a8ba25ead9_0_95"/>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g3a8ba25ead9_0_9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g3a8ba25ead9_0_103"/>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33;g3a8ba25ead9_0_103"/>
          <p:cNvGrpSpPr/>
          <p:nvPr/>
        </p:nvGrpSpPr>
        <p:grpSpPr>
          <a:xfrm>
            <a:off x="830392" y="1191256"/>
            <a:ext cx="745763" cy="45826"/>
            <a:chOff x="4580561" y="2589004"/>
            <a:chExt cx="1064464" cy="25200"/>
          </a:xfrm>
        </p:grpSpPr>
        <p:sp>
          <p:nvSpPr>
            <p:cNvPr id="34" name="Google Shape;34;g3a8ba25ead9_0_103"/>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g3a8ba25ead9_0_103"/>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g3a8ba25ead9_0_103"/>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37" name="Google Shape;37;g3a8ba25ead9_0_103"/>
          <p:cNvSpPr txBox="1">
            <a:spLocks noGrp="1"/>
          </p:cNvSpPr>
          <p:nvPr>
            <p:ph type="body" idx="1"/>
          </p:nvPr>
        </p:nvSpPr>
        <p:spPr>
          <a:xfrm>
            <a:off x="729325"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8" name="Google Shape;38;g3a8ba25ead9_0_103"/>
          <p:cNvSpPr txBox="1">
            <a:spLocks noGrp="1"/>
          </p:cNvSpPr>
          <p:nvPr>
            <p:ph type="body" idx="2"/>
          </p:nvPr>
        </p:nvSpPr>
        <p:spPr>
          <a:xfrm>
            <a:off x="4643604"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9" name="Google Shape;39;g3a8ba25ead9_0_10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g3a8ba25ead9_0_112"/>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 name="Google Shape;42;g3a8ba25ead9_0_112"/>
          <p:cNvGrpSpPr/>
          <p:nvPr/>
        </p:nvGrpSpPr>
        <p:grpSpPr>
          <a:xfrm>
            <a:off x="830392" y="1191256"/>
            <a:ext cx="745763" cy="45826"/>
            <a:chOff x="4580561" y="2589004"/>
            <a:chExt cx="1064464" cy="25200"/>
          </a:xfrm>
        </p:grpSpPr>
        <p:sp>
          <p:nvSpPr>
            <p:cNvPr id="43" name="Google Shape;43;g3a8ba25ead9_0_11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g3a8ba25ead9_0_11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g3a8ba25ead9_0_112"/>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46" name="Google Shape;46;g3a8ba25ead9_0_11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g3a8ba25ead9_0_119"/>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 name="Google Shape;49;g3a8ba25ead9_0_119"/>
          <p:cNvGrpSpPr/>
          <p:nvPr/>
        </p:nvGrpSpPr>
        <p:grpSpPr>
          <a:xfrm>
            <a:off x="830392" y="1191256"/>
            <a:ext cx="745763" cy="45826"/>
            <a:chOff x="4580561" y="2589004"/>
            <a:chExt cx="1064464" cy="25200"/>
          </a:xfrm>
        </p:grpSpPr>
        <p:sp>
          <p:nvSpPr>
            <p:cNvPr id="50" name="Google Shape;50;g3a8ba25ead9_0_11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g3a8ba25ead9_0_11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g3a8ba25ead9_0_119"/>
          <p:cNvSpPr txBox="1">
            <a:spLocks noGrp="1"/>
          </p:cNvSpPr>
          <p:nvPr>
            <p:ph type="title"/>
          </p:nvPr>
        </p:nvSpPr>
        <p:spPr>
          <a:xfrm>
            <a:off x="730000" y="1318650"/>
            <a:ext cx="3300900" cy="13815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53" name="Google Shape;53;g3a8ba25ead9_0_119"/>
          <p:cNvSpPr txBox="1">
            <a:spLocks noGrp="1"/>
          </p:cNvSpPr>
          <p:nvPr>
            <p:ph type="body" idx="1"/>
          </p:nvPr>
        </p:nvSpPr>
        <p:spPr>
          <a:xfrm>
            <a:off x="721225" y="2781725"/>
            <a:ext cx="3300900" cy="159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4" name="Google Shape;54;g3a8ba25ead9_0_11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5"/>
        <p:cNvGrpSpPr/>
        <p:nvPr/>
      </p:nvGrpSpPr>
      <p:grpSpPr>
        <a:xfrm>
          <a:off x="0" y="0"/>
          <a:ext cx="0" cy="0"/>
          <a:chOff x="0" y="0"/>
          <a:chExt cx="0" cy="0"/>
        </a:xfrm>
      </p:grpSpPr>
      <p:grpSp>
        <p:nvGrpSpPr>
          <p:cNvPr id="56" name="Google Shape;56;g3a8ba25ead9_0_127"/>
          <p:cNvGrpSpPr/>
          <p:nvPr/>
        </p:nvGrpSpPr>
        <p:grpSpPr>
          <a:xfrm>
            <a:off x="830392" y="4169130"/>
            <a:ext cx="745763" cy="45826"/>
            <a:chOff x="4580561" y="2589004"/>
            <a:chExt cx="1064464" cy="25200"/>
          </a:xfrm>
        </p:grpSpPr>
        <p:sp>
          <p:nvSpPr>
            <p:cNvPr id="57" name="Google Shape;57;g3a8ba25ead9_0_127"/>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g3a8ba25ead9_0_127"/>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59;g3a8ba25ead9_0_127"/>
          <p:cNvSpPr txBox="1">
            <a:spLocks noGrp="1"/>
          </p:cNvSpPr>
          <p:nvPr>
            <p:ph type="title"/>
          </p:nvPr>
        </p:nvSpPr>
        <p:spPr>
          <a:xfrm>
            <a:off x="729450" y="864300"/>
            <a:ext cx="7021200" cy="29850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60" name="Google Shape;60;g3a8ba25ead9_0_12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g3a8ba25ead9_0_133"/>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g3a8ba25ead9_0_133"/>
          <p:cNvGrpSpPr/>
          <p:nvPr/>
        </p:nvGrpSpPr>
        <p:grpSpPr>
          <a:xfrm>
            <a:off x="830392" y="1191256"/>
            <a:ext cx="745763" cy="45826"/>
            <a:chOff x="4580561" y="2589004"/>
            <a:chExt cx="1064464" cy="25200"/>
          </a:xfrm>
        </p:grpSpPr>
        <p:sp>
          <p:nvSpPr>
            <p:cNvPr id="64" name="Google Shape;64;g3a8ba25ead9_0_133"/>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g3a8ba25ead9_0_133"/>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g3a8ba25ead9_0_133"/>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67" name="Google Shape;67;g3a8ba25ead9_0_133"/>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68" name="Google Shape;68;g3a8ba25ead9_0_133"/>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9" name="Google Shape;69;g3a8ba25ead9_0_13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
        <p:cNvGrpSpPr/>
        <p:nvPr/>
      </p:nvGrpSpPr>
      <p:grpSpPr>
        <a:xfrm>
          <a:off x="0" y="0"/>
          <a:ext cx="0" cy="0"/>
          <a:chOff x="0" y="0"/>
          <a:chExt cx="0" cy="0"/>
        </a:xfrm>
      </p:grpSpPr>
      <p:sp>
        <p:nvSpPr>
          <p:cNvPr id="71" name="Google Shape;71;g3a8ba25ead9_0_142"/>
          <p:cNvSpPr txBox="1">
            <a:spLocks noGrp="1"/>
          </p:cNvSpPr>
          <p:nvPr>
            <p:ph type="body" idx="1"/>
          </p:nvPr>
        </p:nvSpPr>
        <p:spPr>
          <a:xfrm>
            <a:off x="724950" y="4372551"/>
            <a:ext cx="7697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a:endParaRPr/>
          </a:p>
        </p:txBody>
      </p:sp>
      <p:sp>
        <p:nvSpPr>
          <p:cNvPr id="72" name="Google Shape;72;g3a8ba25ead9_0_14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3"/>
        <p:cNvGrpSpPr/>
        <p:nvPr/>
      </p:nvGrpSpPr>
      <p:grpSpPr>
        <a:xfrm>
          <a:off x="0" y="0"/>
          <a:ext cx="0" cy="0"/>
          <a:chOff x="0" y="0"/>
          <a:chExt cx="0" cy="0"/>
        </a:xfrm>
      </p:grpSpPr>
      <p:grpSp>
        <p:nvGrpSpPr>
          <p:cNvPr id="74" name="Google Shape;74;g3a8ba25ead9_0_145"/>
          <p:cNvGrpSpPr/>
          <p:nvPr/>
        </p:nvGrpSpPr>
        <p:grpSpPr>
          <a:xfrm>
            <a:off x="830392" y="4169130"/>
            <a:ext cx="745763" cy="45826"/>
            <a:chOff x="4580561" y="2589004"/>
            <a:chExt cx="1064464" cy="25200"/>
          </a:xfrm>
        </p:grpSpPr>
        <p:sp>
          <p:nvSpPr>
            <p:cNvPr id="75" name="Google Shape;75;g3a8ba25ead9_0_145"/>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g3a8ba25ead9_0_145"/>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 name="Google Shape;77;g3a8ba25ead9_0_145"/>
          <p:cNvSpPr txBox="1">
            <a:spLocks noGrp="1"/>
          </p:cNvSpPr>
          <p:nvPr>
            <p:ph type="title" hasCustomPrompt="1"/>
          </p:nvPr>
        </p:nvSpPr>
        <p:spPr>
          <a:xfrm>
            <a:off x="729450" y="733950"/>
            <a:ext cx="7688400" cy="1244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g3a8ba25ead9_0_145"/>
          <p:cNvSpPr txBox="1">
            <a:spLocks noGrp="1"/>
          </p:cNvSpPr>
          <p:nvPr>
            <p:ph type="body" idx="1"/>
          </p:nvPr>
        </p:nvSpPr>
        <p:spPr>
          <a:xfrm>
            <a:off x="729450" y="2272888"/>
            <a:ext cx="7688400" cy="15804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lt1"/>
              </a:buClr>
              <a:buSzPts val="1300"/>
              <a:buChar char="●"/>
              <a:defRPr>
                <a:solidFill>
                  <a:schemeClr val="lt1"/>
                </a:solidFill>
              </a:defRPr>
            </a:lvl1pPr>
            <a:lvl2pPr marL="914400" lvl="1" indent="-298450">
              <a:spcBef>
                <a:spcPts val="0"/>
              </a:spcBef>
              <a:spcAft>
                <a:spcPts val="0"/>
              </a:spcAft>
              <a:buClr>
                <a:schemeClr val="lt1"/>
              </a:buClr>
              <a:buSzPts val="1100"/>
              <a:buChar char="○"/>
              <a:defRPr>
                <a:solidFill>
                  <a:schemeClr val="lt1"/>
                </a:solidFill>
              </a:defRPr>
            </a:lvl2pPr>
            <a:lvl3pPr marL="1371600" lvl="2" indent="-298450">
              <a:spcBef>
                <a:spcPts val="0"/>
              </a:spcBef>
              <a:spcAft>
                <a:spcPts val="0"/>
              </a:spcAft>
              <a:buClr>
                <a:schemeClr val="lt1"/>
              </a:buClr>
              <a:buSzPts val="1100"/>
              <a:buChar char="■"/>
              <a:defRPr>
                <a:solidFill>
                  <a:schemeClr val="lt1"/>
                </a:solidFill>
              </a:defRPr>
            </a:lvl3pPr>
            <a:lvl4pPr marL="1828800" lvl="3" indent="-298450">
              <a:spcBef>
                <a:spcPts val="0"/>
              </a:spcBef>
              <a:spcAft>
                <a:spcPts val="0"/>
              </a:spcAft>
              <a:buClr>
                <a:schemeClr val="lt1"/>
              </a:buClr>
              <a:buSzPts val="1100"/>
              <a:buChar char="●"/>
              <a:defRPr>
                <a:solidFill>
                  <a:schemeClr val="lt1"/>
                </a:solidFill>
              </a:defRPr>
            </a:lvl4pPr>
            <a:lvl5pPr marL="2286000" lvl="4" indent="-298450">
              <a:spcBef>
                <a:spcPts val="0"/>
              </a:spcBef>
              <a:spcAft>
                <a:spcPts val="0"/>
              </a:spcAft>
              <a:buClr>
                <a:schemeClr val="lt1"/>
              </a:buClr>
              <a:buSzPts val="1100"/>
              <a:buChar char="○"/>
              <a:defRPr>
                <a:solidFill>
                  <a:schemeClr val="lt1"/>
                </a:solidFill>
              </a:defRPr>
            </a:lvl5pPr>
            <a:lvl6pPr marL="2743200" lvl="5" indent="-298450">
              <a:spcBef>
                <a:spcPts val="0"/>
              </a:spcBef>
              <a:spcAft>
                <a:spcPts val="0"/>
              </a:spcAft>
              <a:buClr>
                <a:schemeClr val="lt1"/>
              </a:buClr>
              <a:buSzPts val="1100"/>
              <a:buChar char="■"/>
              <a:defRPr>
                <a:solidFill>
                  <a:schemeClr val="lt1"/>
                </a:solidFill>
              </a:defRPr>
            </a:lvl6pPr>
            <a:lvl7pPr marL="3200400" lvl="6" indent="-298450">
              <a:spcBef>
                <a:spcPts val="0"/>
              </a:spcBef>
              <a:spcAft>
                <a:spcPts val="0"/>
              </a:spcAft>
              <a:buClr>
                <a:schemeClr val="lt1"/>
              </a:buClr>
              <a:buSzPts val="1100"/>
              <a:buChar char="●"/>
              <a:defRPr>
                <a:solidFill>
                  <a:schemeClr val="lt1"/>
                </a:solidFill>
              </a:defRPr>
            </a:lvl7pPr>
            <a:lvl8pPr marL="3657600" lvl="7" indent="-298450">
              <a:spcBef>
                <a:spcPts val="0"/>
              </a:spcBef>
              <a:spcAft>
                <a:spcPts val="0"/>
              </a:spcAft>
              <a:buClr>
                <a:schemeClr val="lt1"/>
              </a:buClr>
              <a:buSzPts val="1100"/>
              <a:buChar char="○"/>
              <a:defRPr>
                <a:solidFill>
                  <a:schemeClr val="lt1"/>
                </a:solidFill>
              </a:defRPr>
            </a:lvl8pPr>
            <a:lvl9pPr marL="4114800" lvl="8" indent="-298450">
              <a:spcBef>
                <a:spcPts val="0"/>
              </a:spcBef>
              <a:spcAft>
                <a:spcPts val="0"/>
              </a:spcAft>
              <a:buClr>
                <a:schemeClr val="lt1"/>
              </a:buClr>
              <a:buSzPts val="1100"/>
              <a:buChar char="■"/>
              <a:defRPr>
                <a:solidFill>
                  <a:schemeClr val="lt1"/>
                </a:solidFill>
              </a:defRPr>
            </a:lvl9pPr>
          </a:lstStyle>
          <a:p>
            <a:endParaRPr/>
          </a:p>
        </p:txBody>
      </p:sp>
      <p:sp>
        <p:nvSpPr>
          <p:cNvPr id="79" name="Google Shape;79;g3a8ba25ead9_0_14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g3a8ba25ead9_0_15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g3a8ba25ead9_0_7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9pPr>
          </a:lstStyle>
          <a:p>
            <a:endParaRPr/>
          </a:p>
        </p:txBody>
      </p:sp>
      <p:sp>
        <p:nvSpPr>
          <p:cNvPr id="7" name="Google Shape;7;g3a8ba25ead9_0_7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Google Shape;8;g3a8ba25ead9_0_77"/>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
          <p:cNvSpPr txBox="1">
            <a:spLocks noGrp="1"/>
          </p:cNvSpPr>
          <p:nvPr>
            <p:ph type="ctrTitle"/>
          </p:nvPr>
        </p:nvSpPr>
        <p:spPr>
          <a:xfrm>
            <a:off x="729450" y="1322450"/>
            <a:ext cx="7688100" cy="1664700"/>
          </a:xfrm>
          <a:prstGeom prst="rect">
            <a:avLst/>
          </a:prstGeom>
          <a:noFill/>
          <a:ln>
            <a:noFill/>
          </a:ln>
        </p:spPr>
        <p:txBody>
          <a:bodyPr spcFirstLastPara="1" wrap="square" lIns="91425" tIns="91425" rIns="91425" bIns="91425" anchor="b" anchorCtr="0">
            <a:normAutofit/>
          </a:bodyPr>
          <a:lstStyle/>
          <a:p>
            <a:pPr marL="0" lvl="0" indent="0" algn="l" rtl="0">
              <a:lnSpc>
                <a:spcPct val="100000"/>
              </a:lnSpc>
              <a:spcBef>
                <a:spcPts val="0"/>
              </a:spcBef>
              <a:spcAft>
                <a:spcPts val="0"/>
              </a:spcAft>
              <a:buSzPts val="891"/>
              <a:buNone/>
            </a:pPr>
            <a:r>
              <a:rPr lang="en-US" sz="3542"/>
              <a:t>Federal Reserve Economic Data (FRED): Exploratory Data Analysis</a:t>
            </a:r>
            <a:endParaRPr sz="3542"/>
          </a:p>
        </p:txBody>
      </p:sp>
      <p:sp>
        <p:nvSpPr>
          <p:cNvPr id="87" name="Google Shape;87;p1"/>
          <p:cNvSpPr txBox="1">
            <a:spLocks noGrp="1"/>
          </p:cNvSpPr>
          <p:nvPr>
            <p:ph type="subTitle" idx="1"/>
          </p:nvPr>
        </p:nvSpPr>
        <p:spPr>
          <a:xfrm>
            <a:off x="729627" y="3172900"/>
            <a:ext cx="7688100" cy="5412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80000"/>
              </a:lnSpc>
              <a:spcBef>
                <a:spcPts val="0"/>
              </a:spcBef>
              <a:spcAft>
                <a:spcPts val="0"/>
              </a:spcAft>
              <a:buSzPct val="49734"/>
              <a:buNone/>
            </a:pPr>
            <a:r>
              <a:rPr lang="en-US" sz="1880" dirty="0"/>
              <a:t>BUSN 32120</a:t>
            </a:r>
            <a:endParaRPr sz="1880" dirty="0"/>
          </a:p>
          <a:p>
            <a:pPr marL="0" lvl="0" indent="0" algn="l" rtl="0">
              <a:lnSpc>
                <a:spcPct val="80000"/>
              </a:lnSpc>
              <a:spcBef>
                <a:spcPts val="0"/>
              </a:spcBef>
              <a:spcAft>
                <a:spcPts val="0"/>
              </a:spcAft>
              <a:buSzPct val="49734"/>
              <a:buNone/>
            </a:pPr>
            <a:endParaRPr sz="1880" dirty="0"/>
          </a:p>
          <a:p>
            <a:pPr marL="0" lvl="0" indent="0" algn="l" rtl="0">
              <a:lnSpc>
                <a:spcPct val="80000"/>
              </a:lnSpc>
              <a:spcBef>
                <a:spcPts val="0"/>
              </a:spcBef>
              <a:spcAft>
                <a:spcPts val="0"/>
              </a:spcAft>
              <a:buSzPct val="49734"/>
              <a:buNone/>
            </a:pPr>
            <a:r>
              <a:rPr lang="en-US" sz="1880" dirty="0"/>
              <a:t>James Goyette, </a:t>
            </a:r>
            <a:r>
              <a:rPr lang="en-US" sz="1880" dirty="0" err="1"/>
              <a:t>Jhumi</a:t>
            </a:r>
            <a:r>
              <a:rPr lang="en-US" sz="1880" dirty="0"/>
              <a:t> Parimal, Elizabeth Sun</a:t>
            </a:r>
            <a:endParaRPr sz="188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
          <p:cNvSpPr txBox="1">
            <a:spLocks noGrp="1"/>
          </p:cNvSpPr>
          <p:nvPr>
            <p:ph type="title"/>
          </p:nvPr>
        </p:nvSpPr>
        <p:spPr>
          <a:xfrm>
            <a:off x="727650" y="604275"/>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9658"/>
              <a:buNone/>
            </a:pPr>
            <a:r>
              <a:rPr lang="en-US" dirty="0"/>
              <a:t>Target Audience &amp; Research Question</a:t>
            </a:r>
            <a:endParaRPr dirty="0"/>
          </a:p>
        </p:txBody>
      </p:sp>
      <p:graphicFrame>
        <p:nvGraphicFramePr>
          <p:cNvPr id="93" name="Google Shape;93;p2"/>
          <p:cNvGraphicFramePr/>
          <p:nvPr>
            <p:extLst>
              <p:ext uri="{D42A27DB-BD31-4B8C-83A1-F6EECF244321}">
                <p14:modId xmlns:p14="http://schemas.microsoft.com/office/powerpoint/2010/main" val="582051023"/>
              </p:ext>
            </p:extLst>
          </p:nvPr>
        </p:nvGraphicFramePr>
        <p:xfrm>
          <a:off x="4790350" y="1440637"/>
          <a:ext cx="4055175" cy="3092925"/>
        </p:xfrm>
        <a:graphic>
          <a:graphicData uri="http://schemas.openxmlformats.org/drawingml/2006/table">
            <a:tbl>
              <a:tblPr>
                <a:noFill/>
                <a:tableStyleId>{0C06834B-A0B4-46C9-BAB2-CA101E9CCDFA}</a:tableStyleId>
              </a:tblPr>
              <a:tblGrid>
                <a:gridCol w="695900">
                  <a:extLst>
                    <a:ext uri="{9D8B030D-6E8A-4147-A177-3AD203B41FA5}">
                      <a16:colId xmlns:a16="http://schemas.microsoft.com/office/drawing/2014/main" val="20000"/>
                    </a:ext>
                  </a:extLst>
                </a:gridCol>
                <a:gridCol w="1486650">
                  <a:extLst>
                    <a:ext uri="{9D8B030D-6E8A-4147-A177-3AD203B41FA5}">
                      <a16:colId xmlns:a16="http://schemas.microsoft.com/office/drawing/2014/main" val="20001"/>
                    </a:ext>
                  </a:extLst>
                </a:gridCol>
                <a:gridCol w="1872625">
                  <a:extLst>
                    <a:ext uri="{9D8B030D-6E8A-4147-A177-3AD203B41FA5}">
                      <a16:colId xmlns:a16="http://schemas.microsoft.com/office/drawing/2014/main" val="20002"/>
                    </a:ext>
                  </a:extLst>
                </a:gridCol>
              </a:tblGrid>
              <a:tr h="137150">
                <a:tc>
                  <a:txBody>
                    <a:bodyPr/>
                    <a:lstStyle/>
                    <a:p>
                      <a:pPr marL="0" marR="0" lvl="0" indent="0" algn="l" rtl="0">
                        <a:lnSpc>
                          <a:spcPct val="100000"/>
                        </a:lnSpc>
                        <a:spcBef>
                          <a:spcPts val="0"/>
                        </a:spcBef>
                        <a:spcAft>
                          <a:spcPts val="0"/>
                        </a:spcAft>
                        <a:buClr>
                          <a:srgbClr val="000000"/>
                        </a:buClr>
                        <a:buSzPts val="700"/>
                        <a:buFont typeface="Arial"/>
                        <a:buNone/>
                      </a:pPr>
                      <a:r>
                        <a:rPr lang="en-US" sz="700" b="1" u="none" strike="noStrike" cap="none">
                          <a:solidFill>
                            <a:schemeClr val="dk2"/>
                          </a:solidFill>
                        </a:rPr>
                        <a:t>Series ID</a:t>
                      </a:r>
                      <a:endParaRPr>
                        <a:solidFill>
                          <a:schemeClr val="dk2"/>
                        </a:solidFill>
                      </a:endParaRPr>
                    </a:p>
                  </a:txBody>
                  <a:tcPr marL="51250" marR="51250" marT="25625" marB="25625" anchor="ctr">
                    <a:solidFill>
                      <a:schemeClr val="lt1"/>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700" b="1" u="none" strike="noStrike" cap="none">
                          <a:solidFill>
                            <a:schemeClr val="dk2"/>
                          </a:solidFill>
                        </a:rPr>
                        <a:t>Description</a:t>
                      </a:r>
                      <a:endParaRPr>
                        <a:solidFill>
                          <a:schemeClr val="dk2"/>
                        </a:solidFill>
                      </a:endParaRPr>
                    </a:p>
                  </a:txBody>
                  <a:tcPr marL="51250" marR="51250" marT="25625" marB="25625" anchor="ctr">
                    <a:solidFill>
                      <a:schemeClr val="lt1"/>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700" b="1" u="none" strike="noStrike" cap="none">
                          <a:solidFill>
                            <a:schemeClr val="dk2"/>
                          </a:solidFill>
                        </a:rPr>
                        <a:t>Why Included</a:t>
                      </a:r>
                      <a:endParaRPr>
                        <a:solidFill>
                          <a:schemeClr val="dk2"/>
                        </a:solidFill>
                      </a:endParaRPr>
                    </a:p>
                  </a:txBody>
                  <a:tcPr marL="51250" marR="51250" marT="25625" marB="25625" anchor="ctr">
                    <a:solidFill>
                      <a:schemeClr val="lt1"/>
                    </a:solidFill>
                  </a:tcPr>
                </a:tc>
                <a:extLst>
                  <a:ext uri="{0D108BD9-81ED-4DB2-BD59-A6C34878D82A}">
                    <a16:rowId xmlns:a16="http://schemas.microsoft.com/office/drawing/2014/main" val="10000"/>
                  </a:ext>
                </a:extLst>
              </a:tr>
              <a:tr h="137150">
                <a:tc>
                  <a:txBody>
                    <a:bodyPr/>
                    <a:lstStyle/>
                    <a:p>
                      <a:pPr marL="0" marR="0" lvl="0" indent="0" algn="l" rtl="0">
                        <a:lnSpc>
                          <a:spcPct val="100000"/>
                        </a:lnSpc>
                        <a:spcBef>
                          <a:spcPts val="0"/>
                        </a:spcBef>
                        <a:spcAft>
                          <a:spcPts val="0"/>
                        </a:spcAft>
                        <a:buClr>
                          <a:srgbClr val="000000"/>
                        </a:buClr>
                        <a:buSzPts val="700"/>
                        <a:buFont typeface="Arial"/>
                        <a:buNone/>
                      </a:pPr>
                      <a:r>
                        <a:rPr lang="en-US" sz="700" u="none" strike="noStrike" cap="none">
                          <a:solidFill>
                            <a:schemeClr val="dk2"/>
                          </a:solidFill>
                        </a:rPr>
                        <a:t>PSAVERT</a:t>
                      </a:r>
                      <a:endParaRPr>
                        <a:solidFill>
                          <a:schemeClr val="dk2"/>
                        </a:solidFill>
                      </a:endParaRPr>
                    </a:p>
                  </a:txBody>
                  <a:tcPr marL="51250" marR="51250" marT="25625" marB="25625" anchor="ctr">
                    <a:solidFill>
                      <a:schemeClr val="lt1"/>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700" u="none" strike="noStrike" cap="none">
                          <a:solidFill>
                            <a:schemeClr val="dk2"/>
                          </a:solidFill>
                        </a:rPr>
                        <a:t>Personal Savings Rate (%)</a:t>
                      </a:r>
                      <a:endParaRPr>
                        <a:solidFill>
                          <a:schemeClr val="dk2"/>
                        </a:solidFill>
                      </a:endParaRPr>
                    </a:p>
                  </a:txBody>
                  <a:tcPr marL="51250" marR="51250" marT="25625" marB="25625" anchor="ctr">
                    <a:solidFill>
                      <a:schemeClr val="lt1"/>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700" u="none" strike="noStrike" cap="none">
                          <a:solidFill>
                            <a:schemeClr val="dk2"/>
                          </a:solidFill>
                        </a:rPr>
                        <a:t>Primary variable of interest</a:t>
                      </a:r>
                      <a:endParaRPr>
                        <a:solidFill>
                          <a:schemeClr val="dk2"/>
                        </a:solidFill>
                      </a:endParaRPr>
                    </a:p>
                  </a:txBody>
                  <a:tcPr marL="51250" marR="51250" marT="25625" marB="25625" anchor="ctr">
                    <a:solidFill>
                      <a:schemeClr val="lt1"/>
                    </a:solidFill>
                  </a:tcPr>
                </a:tc>
                <a:extLst>
                  <a:ext uri="{0D108BD9-81ED-4DB2-BD59-A6C34878D82A}">
                    <a16:rowId xmlns:a16="http://schemas.microsoft.com/office/drawing/2014/main" val="10001"/>
                  </a:ext>
                </a:extLst>
              </a:tr>
              <a:tr h="137150">
                <a:tc>
                  <a:txBody>
                    <a:bodyPr/>
                    <a:lstStyle/>
                    <a:p>
                      <a:pPr marL="0" marR="0" lvl="0" indent="0" algn="l" rtl="0">
                        <a:lnSpc>
                          <a:spcPct val="100000"/>
                        </a:lnSpc>
                        <a:spcBef>
                          <a:spcPts val="0"/>
                        </a:spcBef>
                        <a:spcAft>
                          <a:spcPts val="0"/>
                        </a:spcAft>
                        <a:buClr>
                          <a:srgbClr val="000000"/>
                        </a:buClr>
                        <a:buSzPts val="700"/>
                        <a:buFont typeface="Arial"/>
                        <a:buNone/>
                      </a:pPr>
                      <a:r>
                        <a:rPr lang="en-US" sz="700" u="none" strike="noStrike" cap="none">
                          <a:solidFill>
                            <a:schemeClr val="dk2"/>
                          </a:solidFill>
                        </a:rPr>
                        <a:t>UNRATE</a:t>
                      </a:r>
                      <a:endParaRPr>
                        <a:solidFill>
                          <a:schemeClr val="dk2"/>
                        </a:solidFill>
                      </a:endParaRPr>
                    </a:p>
                  </a:txBody>
                  <a:tcPr marL="51250" marR="51250" marT="25625" marB="25625" anchor="ctr">
                    <a:solidFill>
                      <a:schemeClr val="lt1"/>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700" u="none" strike="noStrike" cap="none">
                          <a:solidFill>
                            <a:schemeClr val="dk2"/>
                          </a:solidFill>
                        </a:rPr>
                        <a:t>Unemployment Rate (%)</a:t>
                      </a:r>
                      <a:endParaRPr>
                        <a:solidFill>
                          <a:schemeClr val="dk2"/>
                        </a:solidFill>
                      </a:endParaRPr>
                    </a:p>
                  </a:txBody>
                  <a:tcPr marL="51250" marR="51250" marT="25625" marB="25625" anchor="ctr">
                    <a:solidFill>
                      <a:schemeClr val="lt1"/>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700" u="none" strike="noStrike" cap="none">
                          <a:solidFill>
                            <a:schemeClr val="dk2"/>
                          </a:solidFill>
                        </a:rPr>
                        <a:t>Key labor-market indicator</a:t>
                      </a:r>
                      <a:endParaRPr>
                        <a:solidFill>
                          <a:schemeClr val="dk2"/>
                        </a:solidFill>
                      </a:endParaRPr>
                    </a:p>
                  </a:txBody>
                  <a:tcPr marL="51250" marR="51250" marT="25625" marB="25625" anchor="ctr">
                    <a:solidFill>
                      <a:schemeClr val="lt1"/>
                    </a:solidFill>
                  </a:tcPr>
                </a:tc>
                <a:extLst>
                  <a:ext uri="{0D108BD9-81ED-4DB2-BD59-A6C34878D82A}">
                    <a16:rowId xmlns:a16="http://schemas.microsoft.com/office/drawing/2014/main" val="10002"/>
                  </a:ext>
                </a:extLst>
              </a:tr>
              <a:tr h="233725">
                <a:tc>
                  <a:txBody>
                    <a:bodyPr/>
                    <a:lstStyle/>
                    <a:p>
                      <a:pPr marL="0" marR="0" lvl="0" indent="0" algn="l" rtl="0">
                        <a:lnSpc>
                          <a:spcPct val="100000"/>
                        </a:lnSpc>
                        <a:spcBef>
                          <a:spcPts val="0"/>
                        </a:spcBef>
                        <a:spcAft>
                          <a:spcPts val="0"/>
                        </a:spcAft>
                        <a:buClr>
                          <a:srgbClr val="000000"/>
                        </a:buClr>
                        <a:buSzPts val="700"/>
                        <a:buFont typeface="Arial"/>
                        <a:buNone/>
                      </a:pPr>
                      <a:r>
                        <a:rPr lang="en-US" sz="700" u="none" strike="noStrike" cap="none">
                          <a:solidFill>
                            <a:schemeClr val="dk2"/>
                          </a:solidFill>
                        </a:rPr>
                        <a:t>CPIAUCSL</a:t>
                      </a:r>
                      <a:endParaRPr>
                        <a:solidFill>
                          <a:schemeClr val="dk2"/>
                        </a:solidFill>
                      </a:endParaRPr>
                    </a:p>
                  </a:txBody>
                  <a:tcPr marL="51250" marR="51250" marT="25625" marB="25625" anchor="ctr">
                    <a:solidFill>
                      <a:schemeClr val="lt1"/>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700" u="none" strike="noStrike" cap="none">
                          <a:solidFill>
                            <a:schemeClr val="dk2"/>
                          </a:solidFill>
                        </a:rPr>
                        <a:t>Consumer Price Index (All Urban, SA)</a:t>
                      </a:r>
                      <a:endParaRPr>
                        <a:solidFill>
                          <a:schemeClr val="dk2"/>
                        </a:solidFill>
                      </a:endParaRPr>
                    </a:p>
                  </a:txBody>
                  <a:tcPr marL="51250" marR="51250" marT="25625" marB="25625" anchor="ctr">
                    <a:solidFill>
                      <a:schemeClr val="lt1"/>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700" u="none" strike="noStrike" cap="none">
                          <a:solidFill>
                            <a:schemeClr val="dk2"/>
                          </a:solidFill>
                        </a:rPr>
                        <a:t>Inflation pressure on saving capacity</a:t>
                      </a:r>
                      <a:endParaRPr>
                        <a:solidFill>
                          <a:schemeClr val="dk2"/>
                        </a:solidFill>
                      </a:endParaRPr>
                    </a:p>
                  </a:txBody>
                  <a:tcPr marL="51250" marR="51250" marT="25625" marB="25625" anchor="ctr">
                    <a:solidFill>
                      <a:schemeClr val="lt1"/>
                    </a:solidFill>
                  </a:tcPr>
                </a:tc>
                <a:extLst>
                  <a:ext uri="{0D108BD9-81ED-4DB2-BD59-A6C34878D82A}">
                    <a16:rowId xmlns:a16="http://schemas.microsoft.com/office/drawing/2014/main" val="10003"/>
                  </a:ext>
                </a:extLst>
              </a:tr>
              <a:tr h="233725">
                <a:tc>
                  <a:txBody>
                    <a:bodyPr/>
                    <a:lstStyle/>
                    <a:p>
                      <a:pPr marL="0" marR="0" lvl="0" indent="0" algn="l" rtl="0">
                        <a:lnSpc>
                          <a:spcPct val="100000"/>
                        </a:lnSpc>
                        <a:spcBef>
                          <a:spcPts val="0"/>
                        </a:spcBef>
                        <a:spcAft>
                          <a:spcPts val="0"/>
                        </a:spcAft>
                        <a:buClr>
                          <a:srgbClr val="000000"/>
                        </a:buClr>
                        <a:buSzPts val="700"/>
                        <a:buFont typeface="Arial"/>
                        <a:buNone/>
                      </a:pPr>
                      <a:r>
                        <a:rPr lang="en-US" sz="700" u="none" strike="noStrike" cap="none">
                          <a:solidFill>
                            <a:schemeClr val="dk2"/>
                          </a:solidFill>
                        </a:rPr>
                        <a:t>UMCSENT</a:t>
                      </a:r>
                      <a:endParaRPr>
                        <a:solidFill>
                          <a:schemeClr val="dk2"/>
                        </a:solidFill>
                      </a:endParaRPr>
                    </a:p>
                  </a:txBody>
                  <a:tcPr marL="51250" marR="51250" marT="25625" marB="25625" anchor="ctr">
                    <a:solidFill>
                      <a:schemeClr val="lt1"/>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700" u="none" strike="noStrike" cap="none">
                          <a:solidFill>
                            <a:schemeClr val="dk2"/>
                          </a:solidFill>
                        </a:rPr>
                        <a:t>U. Michigan Consumer Sentiment Index</a:t>
                      </a:r>
                      <a:endParaRPr>
                        <a:solidFill>
                          <a:schemeClr val="dk2"/>
                        </a:solidFill>
                      </a:endParaRPr>
                    </a:p>
                  </a:txBody>
                  <a:tcPr marL="51250" marR="51250" marT="25625" marB="25625" anchor="ctr">
                    <a:solidFill>
                      <a:schemeClr val="lt1"/>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700" u="none" strike="noStrike" cap="none">
                          <a:solidFill>
                            <a:schemeClr val="dk2"/>
                          </a:solidFill>
                        </a:rPr>
                        <a:t>Forward-looking consumer confidence</a:t>
                      </a:r>
                      <a:endParaRPr>
                        <a:solidFill>
                          <a:schemeClr val="dk2"/>
                        </a:solidFill>
                      </a:endParaRPr>
                    </a:p>
                  </a:txBody>
                  <a:tcPr marL="51250" marR="51250" marT="25625" marB="25625" anchor="ctr">
                    <a:solidFill>
                      <a:schemeClr val="lt1"/>
                    </a:solidFill>
                  </a:tcPr>
                </a:tc>
                <a:extLst>
                  <a:ext uri="{0D108BD9-81ED-4DB2-BD59-A6C34878D82A}">
                    <a16:rowId xmlns:a16="http://schemas.microsoft.com/office/drawing/2014/main" val="10004"/>
                  </a:ext>
                </a:extLst>
              </a:tr>
              <a:tr h="233725">
                <a:tc>
                  <a:txBody>
                    <a:bodyPr/>
                    <a:lstStyle/>
                    <a:p>
                      <a:pPr marL="0" marR="0" lvl="0" indent="0" algn="l" rtl="0">
                        <a:lnSpc>
                          <a:spcPct val="100000"/>
                        </a:lnSpc>
                        <a:spcBef>
                          <a:spcPts val="0"/>
                        </a:spcBef>
                        <a:spcAft>
                          <a:spcPts val="0"/>
                        </a:spcAft>
                        <a:buClr>
                          <a:srgbClr val="000000"/>
                        </a:buClr>
                        <a:buSzPts val="700"/>
                        <a:buFont typeface="Arial"/>
                        <a:buNone/>
                      </a:pPr>
                      <a:r>
                        <a:rPr lang="en-US" sz="700" u="none" strike="noStrike" cap="none">
                          <a:solidFill>
                            <a:schemeClr val="dk2"/>
                          </a:solidFill>
                        </a:rPr>
                        <a:t>DSPIC96</a:t>
                      </a:r>
                      <a:endParaRPr>
                        <a:solidFill>
                          <a:schemeClr val="dk2"/>
                        </a:solidFill>
                      </a:endParaRPr>
                    </a:p>
                  </a:txBody>
                  <a:tcPr marL="51250" marR="51250" marT="25625" marB="25625" anchor="ctr">
                    <a:solidFill>
                      <a:schemeClr val="lt1"/>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700" u="none" strike="noStrike" cap="none">
                          <a:solidFill>
                            <a:schemeClr val="dk2"/>
                          </a:solidFill>
                        </a:rPr>
                        <a:t>Real Disposable Personal Income</a:t>
                      </a:r>
                      <a:endParaRPr>
                        <a:solidFill>
                          <a:schemeClr val="dk2"/>
                        </a:solidFill>
                      </a:endParaRPr>
                    </a:p>
                  </a:txBody>
                  <a:tcPr marL="51250" marR="51250" marT="25625" marB="25625" anchor="ctr">
                    <a:solidFill>
                      <a:schemeClr val="lt1"/>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700" u="none" strike="noStrike" cap="none">
                          <a:solidFill>
                            <a:schemeClr val="dk2"/>
                          </a:solidFill>
                        </a:rPr>
                        <a:t>Income actually available to save</a:t>
                      </a:r>
                      <a:endParaRPr>
                        <a:solidFill>
                          <a:schemeClr val="dk2"/>
                        </a:solidFill>
                      </a:endParaRPr>
                    </a:p>
                  </a:txBody>
                  <a:tcPr marL="51250" marR="51250" marT="25625" marB="25625" anchor="ctr">
                    <a:solidFill>
                      <a:schemeClr val="lt1"/>
                    </a:solidFill>
                  </a:tcPr>
                </a:tc>
                <a:extLst>
                  <a:ext uri="{0D108BD9-81ED-4DB2-BD59-A6C34878D82A}">
                    <a16:rowId xmlns:a16="http://schemas.microsoft.com/office/drawing/2014/main" val="10005"/>
                  </a:ext>
                </a:extLst>
              </a:tr>
              <a:tr h="233725">
                <a:tc>
                  <a:txBody>
                    <a:bodyPr/>
                    <a:lstStyle/>
                    <a:p>
                      <a:pPr marL="0" marR="0" lvl="0" indent="0" algn="l" rtl="0">
                        <a:lnSpc>
                          <a:spcPct val="100000"/>
                        </a:lnSpc>
                        <a:spcBef>
                          <a:spcPts val="0"/>
                        </a:spcBef>
                        <a:spcAft>
                          <a:spcPts val="0"/>
                        </a:spcAft>
                        <a:buClr>
                          <a:srgbClr val="000000"/>
                        </a:buClr>
                        <a:buSzPts val="700"/>
                        <a:buFont typeface="Arial"/>
                        <a:buNone/>
                      </a:pPr>
                      <a:r>
                        <a:rPr lang="en-US" sz="700" u="none" strike="noStrike" cap="none">
                          <a:solidFill>
                            <a:schemeClr val="dk2"/>
                          </a:solidFill>
                        </a:rPr>
                        <a:t>FEDFUNDS</a:t>
                      </a:r>
                      <a:endParaRPr>
                        <a:solidFill>
                          <a:schemeClr val="dk2"/>
                        </a:solidFill>
                      </a:endParaRPr>
                    </a:p>
                  </a:txBody>
                  <a:tcPr marL="51250" marR="51250" marT="25625" marB="25625" anchor="ctr">
                    <a:solidFill>
                      <a:schemeClr val="lt1"/>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700" u="none" strike="noStrike" cap="none">
                          <a:solidFill>
                            <a:schemeClr val="dk2"/>
                          </a:solidFill>
                        </a:rPr>
                        <a:t>Effective Federal Funds Rate (%)</a:t>
                      </a:r>
                      <a:endParaRPr>
                        <a:solidFill>
                          <a:schemeClr val="dk2"/>
                        </a:solidFill>
                      </a:endParaRPr>
                    </a:p>
                  </a:txBody>
                  <a:tcPr marL="51250" marR="51250" marT="25625" marB="25625" anchor="ctr">
                    <a:solidFill>
                      <a:schemeClr val="lt1"/>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700" u="none" strike="noStrike" cap="none">
                          <a:solidFill>
                            <a:schemeClr val="dk2"/>
                          </a:solidFill>
                        </a:rPr>
                        <a:t>Interest-rate environment for savers</a:t>
                      </a:r>
                      <a:endParaRPr>
                        <a:solidFill>
                          <a:schemeClr val="dk2"/>
                        </a:solidFill>
                      </a:endParaRPr>
                    </a:p>
                  </a:txBody>
                  <a:tcPr marL="51250" marR="51250" marT="25625" marB="25625" anchor="ctr">
                    <a:solidFill>
                      <a:schemeClr val="lt1"/>
                    </a:solidFill>
                  </a:tcPr>
                </a:tc>
                <a:extLst>
                  <a:ext uri="{0D108BD9-81ED-4DB2-BD59-A6C34878D82A}">
                    <a16:rowId xmlns:a16="http://schemas.microsoft.com/office/drawing/2014/main" val="10006"/>
                  </a:ext>
                </a:extLst>
              </a:tr>
              <a:tr h="233725">
                <a:tc>
                  <a:txBody>
                    <a:bodyPr/>
                    <a:lstStyle/>
                    <a:p>
                      <a:pPr marL="0" marR="0" lvl="0" indent="0" algn="l" rtl="0">
                        <a:lnSpc>
                          <a:spcPct val="100000"/>
                        </a:lnSpc>
                        <a:spcBef>
                          <a:spcPts val="0"/>
                        </a:spcBef>
                        <a:spcAft>
                          <a:spcPts val="0"/>
                        </a:spcAft>
                        <a:buClr>
                          <a:srgbClr val="000000"/>
                        </a:buClr>
                        <a:buSzPts val="700"/>
                        <a:buFont typeface="Arial"/>
                        <a:buNone/>
                      </a:pPr>
                      <a:r>
                        <a:rPr lang="en-US" sz="700" u="none" strike="noStrike" cap="none">
                          <a:solidFill>
                            <a:schemeClr val="dk2"/>
                          </a:solidFill>
                        </a:rPr>
                        <a:t>PCEPI</a:t>
                      </a:r>
                      <a:endParaRPr>
                        <a:solidFill>
                          <a:schemeClr val="dk2"/>
                        </a:solidFill>
                      </a:endParaRPr>
                    </a:p>
                  </a:txBody>
                  <a:tcPr marL="51250" marR="51250" marT="25625" marB="25625" anchor="ctr">
                    <a:solidFill>
                      <a:schemeClr val="lt1"/>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700" u="none" strike="noStrike" cap="none">
                          <a:solidFill>
                            <a:schemeClr val="dk2"/>
                          </a:solidFill>
                        </a:rPr>
                        <a:t>PCE Price Index</a:t>
                      </a:r>
                      <a:endParaRPr>
                        <a:solidFill>
                          <a:schemeClr val="dk2"/>
                        </a:solidFill>
                      </a:endParaRPr>
                    </a:p>
                  </a:txBody>
                  <a:tcPr marL="51250" marR="51250" marT="25625" marB="25625" anchor="ctr">
                    <a:solidFill>
                      <a:schemeClr val="lt1"/>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700" u="none" strike="noStrike" cap="none">
                          <a:solidFill>
                            <a:schemeClr val="dk2"/>
                          </a:solidFill>
                        </a:rPr>
                        <a:t>Alternative inflation gauge (Fed-preferred)</a:t>
                      </a:r>
                      <a:endParaRPr>
                        <a:solidFill>
                          <a:schemeClr val="dk2"/>
                        </a:solidFill>
                      </a:endParaRPr>
                    </a:p>
                  </a:txBody>
                  <a:tcPr marL="51250" marR="51250" marT="25625" marB="25625" anchor="ctr">
                    <a:solidFill>
                      <a:schemeClr val="lt1"/>
                    </a:solidFill>
                  </a:tcPr>
                </a:tc>
                <a:extLst>
                  <a:ext uri="{0D108BD9-81ED-4DB2-BD59-A6C34878D82A}">
                    <a16:rowId xmlns:a16="http://schemas.microsoft.com/office/drawing/2014/main" val="10007"/>
                  </a:ext>
                </a:extLst>
              </a:tr>
              <a:tr h="233725">
                <a:tc>
                  <a:txBody>
                    <a:bodyPr/>
                    <a:lstStyle/>
                    <a:p>
                      <a:pPr marL="0" marR="0" lvl="0" indent="0" algn="l" rtl="0">
                        <a:lnSpc>
                          <a:spcPct val="100000"/>
                        </a:lnSpc>
                        <a:spcBef>
                          <a:spcPts val="0"/>
                        </a:spcBef>
                        <a:spcAft>
                          <a:spcPts val="0"/>
                        </a:spcAft>
                        <a:buClr>
                          <a:srgbClr val="000000"/>
                        </a:buClr>
                        <a:buSzPts val="700"/>
                        <a:buFont typeface="Arial"/>
                        <a:buNone/>
                      </a:pPr>
                      <a:r>
                        <a:rPr lang="en-US" sz="700" u="none" strike="noStrike" cap="none">
                          <a:solidFill>
                            <a:schemeClr val="dk2"/>
                          </a:solidFill>
                        </a:rPr>
                        <a:t>RSAFS</a:t>
                      </a:r>
                      <a:endParaRPr>
                        <a:solidFill>
                          <a:schemeClr val="dk2"/>
                        </a:solidFill>
                      </a:endParaRPr>
                    </a:p>
                  </a:txBody>
                  <a:tcPr marL="51250" marR="51250" marT="25625" marB="25625" anchor="ctr">
                    <a:solidFill>
                      <a:schemeClr val="lt1"/>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700" u="none" strike="noStrike" cap="none">
                          <a:solidFill>
                            <a:schemeClr val="dk2"/>
                          </a:solidFill>
                        </a:rPr>
                        <a:t>Advance Retail Sales (millions, SA)</a:t>
                      </a:r>
                      <a:endParaRPr>
                        <a:solidFill>
                          <a:schemeClr val="dk2"/>
                        </a:solidFill>
                      </a:endParaRPr>
                    </a:p>
                  </a:txBody>
                  <a:tcPr marL="51250" marR="51250" marT="25625" marB="25625" anchor="ctr">
                    <a:solidFill>
                      <a:schemeClr val="lt1"/>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700" u="none" strike="noStrike" cap="none">
                          <a:solidFill>
                            <a:schemeClr val="dk2"/>
                          </a:solidFill>
                        </a:rPr>
                        <a:t>Consumer spending, an inverse proxy for saving</a:t>
                      </a:r>
                      <a:endParaRPr>
                        <a:solidFill>
                          <a:schemeClr val="dk2"/>
                        </a:solidFill>
                      </a:endParaRPr>
                    </a:p>
                  </a:txBody>
                  <a:tcPr marL="51250" marR="51250" marT="25625" marB="25625" anchor="ctr">
                    <a:solidFill>
                      <a:schemeClr val="lt1"/>
                    </a:solidFill>
                  </a:tcPr>
                </a:tc>
                <a:extLst>
                  <a:ext uri="{0D108BD9-81ED-4DB2-BD59-A6C34878D82A}">
                    <a16:rowId xmlns:a16="http://schemas.microsoft.com/office/drawing/2014/main" val="10008"/>
                  </a:ext>
                </a:extLst>
              </a:tr>
              <a:tr h="233725">
                <a:tc>
                  <a:txBody>
                    <a:bodyPr/>
                    <a:lstStyle/>
                    <a:p>
                      <a:pPr marL="0" marR="0" lvl="0" indent="0" algn="l" rtl="0">
                        <a:lnSpc>
                          <a:spcPct val="100000"/>
                        </a:lnSpc>
                        <a:spcBef>
                          <a:spcPts val="0"/>
                        </a:spcBef>
                        <a:spcAft>
                          <a:spcPts val="0"/>
                        </a:spcAft>
                        <a:buClr>
                          <a:srgbClr val="000000"/>
                        </a:buClr>
                        <a:buSzPts val="700"/>
                        <a:buFont typeface="Arial"/>
                        <a:buNone/>
                      </a:pPr>
                      <a:r>
                        <a:rPr lang="en-US" sz="700" u="none" strike="noStrike" cap="none">
                          <a:solidFill>
                            <a:schemeClr val="dk2"/>
                          </a:solidFill>
                        </a:rPr>
                        <a:t>REVOLSL</a:t>
                      </a:r>
                      <a:endParaRPr>
                        <a:solidFill>
                          <a:schemeClr val="dk2"/>
                        </a:solidFill>
                      </a:endParaRPr>
                    </a:p>
                  </a:txBody>
                  <a:tcPr marL="51250" marR="51250" marT="25625" marB="25625" anchor="ctr">
                    <a:solidFill>
                      <a:schemeClr val="lt1"/>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700" u="none" strike="noStrike" cap="none">
                          <a:solidFill>
                            <a:schemeClr val="dk2"/>
                          </a:solidFill>
                        </a:rPr>
                        <a:t>Revolving Consumer Credit Outstanding (billions, SA) ★</a:t>
                      </a:r>
                      <a:endParaRPr>
                        <a:solidFill>
                          <a:schemeClr val="dk2"/>
                        </a:solidFill>
                      </a:endParaRPr>
                    </a:p>
                  </a:txBody>
                  <a:tcPr marL="51250" marR="51250" marT="25625" marB="25625" anchor="ctr">
                    <a:solidFill>
                      <a:schemeClr val="lt1"/>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700" u="none" strike="noStrike" cap="none">
                          <a:solidFill>
                            <a:schemeClr val="dk2"/>
                          </a:solidFill>
                        </a:rPr>
                        <a:t>Direct counter-signal to savings</a:t>
                      </a:r>
                      <a:endParaRPr>
                        <a:solidFill>
                          <a:schemeClr val="dk2"/>
                        </a:solidFill>
                      </a:endParaRPr>
                    </a:p>
                  </a:txBody>
                  <a:tcPr marL="51250" marR="51250" marT="25625" marB="25625" anchor="ctr">
                    <a:solidFill>
                      <a:schemeClr val="lt1"/>
                    </a:solidFill>
                  </a:tcPr>
                </a:tc>
                <a:extLst>
                  <a:ext uri="{0D108BD9-81ED-4DB2-BD59-A6C34878D82A}">
                    <a16:rowId xmlns:a16="http://schemas.microsoft.com/office/drawing/2014/main" val="10009"/>
                  </a:ext>
                </a:extLst>
              </a:tr>
              <a:tr h="233725">
                <a:tc>
                  <a:txBody>
                    <a:bodyPr/>
                    <a:lstStyle/>
                    <a:p>
                      <a:pPr marL="0" marR="0" lvl="0" indent="0" algn="l" rtl="0">
                        <a:lnSpc>
                          <a:spcPct val="100000"/>
                        </a:lnSpc>
                        <a:spcBef>
                          <a:spcPts val="0"/>
                        </a:spcBef>
                        <a:spcAft>
                          <a:spcPts val="0"/>
                        </a:spcAft>
                        <a:buClr>
                          <a:srgbClr val="000000"/>
                        </a:buClr>
                        <a:buSzPts val="700"/>
                        <a:buFont typeface="Arial"/>
                        <a:buNone/>
                      </a:pPr>
                      <a:r>
                        <a:rPr lang="en-US" sz="700" u="none" strike="noStrike" cap="none">
                          <a:solidFill>
                            <a:schemeClr val="dk2"/>
                          </a:solidFill>
                        </a:rPr>
                        <a:t>CSUSHPISA</a:t>
                      </a:r>
                      <a:endParaRPr>
                        <a:solidFill>
                          <a:schemeClr val="dk2"/>
                        </a:solidFill>
                      </a:endParaRPr>
                    </a:p>
                  </a:txBody>
                  <a:tcPr marL="51250" marR="51250" marT="25625" marB="25625" anchor="ctr">
                    <a:solidFill>
                      <a:schemeClr val="lt1"/>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700" u="none" strike="noStrike" cap="none">
                          <a:solidFill>
                            <a:schemeClr val="dk2"/>
                          </a:solidFill>
                        </a:rPr>
                        <a:t>S&amp;P/Case-Shiller U.S. National Home Price Index ★</a:t>
                      </a:r>
                      <a:endParaRPr>
                        <a:solidFill>
                          <a:schemeClr val="dk2"/>
                        </a:solidFill>
                      </a:endParaRPr>
                    </a:p>
                  </a:txBody>
                  <a:tcPr marL="51250" marR="51250" marT="25625" marB="25625" anchor="ctr">
                    <a:solidFill>
                      <a:schemeClr val="lt1"/>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700" u="none" strike="noStrike" cap="none">
                          <a:solidFill>
                            <a:schemeClr val="dk2"/>
                          </a:solidFill>
                        </a:rPr>
                        <a:t>Household wealth and housing-cost context</a:t>
                      </a:r>
                      <a:endParaRPr>
                        <a:solidFill>
                          <a:schemeClr val="dk2"/>
                        </a:solidFill>
                      </a:endParaRPr>
                    </a:p>
                  </a:txBody>
                  <a:tcPr marL="51250" marR="51250" marT="25625" marB="25625" anchor="ctr">
                    <a:solidFill>
                      <a:schemeClr val="lt1"/>
                    </a:solidFill>
                  </a:tcPr>
                </a:tc>
                <a:extLst>
                  <a:ext uri="{0D108BD9-81ED-4DB2-BD59-A6C34878D82A}">
                    <a16:rowId xmlns:a16="http://schemas.microsoft.com/office/drawing/2014/main" val="10010"/>
                  </a:ext>
                </a:extLst>
              </a:tr>
              <a:tr h="330300">
                <a:tc>
                  <a:txBody>
                    <a:bodyPr/>
                    <a:lstStyle/>
                    <a:p>
                      <a:pPr marL="0" marR="0" lvl="0" indent="0" algn="l" rtl="0">
                        <a:lnSpc>
                          <a:spcPct val="100000"/>
                        </a:lnSpc>
                        <a:spcBef>
                          <a:spcPts val="0"/>
                        </a:spcBef>
                        <a:spcAft>
                          <a:spcPts val="0"/>
                        </a:spcAft>
                        <a:buClr>
                          <a:srgbClr val="000000"/>
                        </a:buClr>
                        <a:buSzPts val="700"/>
                        <a:buFont typeface="Arial"/>
                        <a:buNone/>
                      </a:pPr>
                      <a:r>
                        <a:rPr lang="en-US" sz="700" u="none" strike="noStrike" cap="none">
                          <a:solidFill>
                            <a:schemeClr val="dk2"/>
                          </a:solidFill>
                        </a:rPr>
                        <a:t>AHETPI</a:t>
                      </a:r>
                      <a:endParaRPr>
                        <a:solidFill>
                          <a:schemeClr val="dk2"/>
                        </a:solidFill>
                      </a:endParaRPr>
                    </a:p>
                  </a:txBody>
                  <a:tcPr marL="51250" marR="51250" marT="25625" marB="25625" anchor="ctr">
                    <a:solidFill>
                      <a:schemeClr val="lt1"/>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700" u="none" strike="noStrike" cap="none">
                          <a:solidFill>
                            <a:schemeClr val="dk2"/>
                          </a:solidFill>
                        </a:rPr>
                        <a:t>Avg Hourly Earnings -- Production &amp; Nonsupervisory ★</a:t>
                      </a:r>
                      <a:endParaRPr>
                        <a:solidFill>
                          <a:schemeClr val="dk2"/>
                        </a:solidFill>
                      </a:endParaRPr>
                    </a:p>
                  </a:txBody>
                  <a:tcPr marL="51250" marR="51250" marT="25625" marB="25625" anchor="ctr">
                    <a:solidFill>
                      <a:schemeClr val="lt1"/>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700" u="none" strike="noStrike" cap="none">
                          <a:solidFill>
                            <a:schemeClr val="dk2"/>
                          </a:solidFill>
                        </a:rPr>
                        <a:t>Wage trajectory and real purchasing power</a:t>
                      </a:r>
                      <a:endParaRPr>
                        <a:solidFill>
                          <a:schemeClr val="dk2"/>
                        </a:solidFill>
                      </a:endParaRPr>
                    </a:p>
                  </a:txBody>
                  <a:tcPr marL="51250" marR="51250" marT="25625" marB="25625" anchor="ctr">
                    <a:solidFill>
                      <a:schemeClr val="lt1"/>
                    </a:solidFill>
                  </a:tcPr>
                </a:tc>
                <a:extLst>
                  <a:ext uri="{0D108BD9-81ED-4DB2-BD59-A6C34878D82A}">
                    <a16:rowId xmlns:a16="http://schemas.microsoft.com/office/drawing/2014/main" val="10011"/>
                  </a:ext>
                </a:extLst>
              </a:tr>
              <a:tr h="233725">
                <a:tc>
                  <a:txBody>
                    <a:bodyPr/>
                    <a:lstStyle/>
                    <a:p>
                      <a:pPr marL="0" marR="0" lvl="0" indent="0" algn="l" rtl="0">
                        <a:lnSpc>
                          <a:spcPct val="100000"/>
                        </a:lnSpc>
                        <a:spcBef>
                          <a:spcPts val="0"/>
                        </a:spcBef>
                        <a:spcAft>
                          <a:spcPts val="0"/>
                        </a:spcAft>
                        <a:buClr>
                          <a:srgbClr val="000000"/>
                        </a:buClr>
                        <a:buSzPts val="700"/>
                        <a:buFont typeface="Arial"/>
                        <a:buNone/>
                      </a:pPr>
                      <a:r>
                        <a:rPr lang="en-US" sz="700" u="none" strike="noStrike" cap="none">
                          <a:solidFill>
                            <a:schemeClr val="dk2"/>
                          </a:solidFill>
                        </a:rPr>
                        <a:t>HOUST</a:t>
                      </a:r>
                      <a:endParaRPr>
                        <a:solidFill>
                          <a:schemeClr val="dk2"/>
                        </a:solidFill>
                      </a:endParaRPr>
                    </a:p>
                  </a:txBody>
                  <a:tcPr marL="51250" marR="51250" marT="25625" marB="25625" anchor="ctr">
                    <a:solidFill>
                      <a:schemeClr val="lt1"/>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700" u="none" strike="noStrike" cap="none">
                          <a:solidFill>
                            <a:schemeClr val="dk2"/>
                          </a:solidFill>
                        </a:rPr>
                        <a:t>Privately-Owned Housing Starts (SAAR, thousands) ★</a:t>
                      </a:r>
                      <a:endParaRPr>
                        <a:solidFill>
                          <a:schemeClr val="dk2"/>
                        </a:solidFill>
                      </a:endParaRPr>
                    </a:p>
                  </a:txBody>
                  <a:tcPr marL="51250" marR="51250" marT="25625" marB="25625" anchor="ctr">
                    <a:solidFill>
                      <a:schemeClr val="lt1"/>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700" u="none" strike="noStrike" cap="none" dirty="0">
                          <a:solidFill>
                            <a:schemeClr val="dk2"/>
                          </a:solidFill>
                        </a:rPr>
                        <a:t>Big-ticket commitment that competes with saving</a:t>
                      </a:r>
                      <a:endParaRPr dirty="0">
                        <a:solidFill>
                          <a:schemeClr val="dk2"/>
                        </a:solidFill>
                      </a:endParaRPr>
                    </a:p>
                  </a:txBody>
                  <a:tcPr marL="51250" marR="51250" marT="25625" marB="25625" anchor="ctr">
                    <a:solidFill>
                      <a:schemeClr val="lt1"/>
                    </a:solidFill>
                  </a:tcPr>
                </a:tc>
                <a:extLst>
                  <a:ext uri="{0D108BD9-81ED-4DB2-BD59-A6C34878D82A}">
                    <a16:rowId xmlns:a16="http://schemas.microsoft.com/office/drawing/2014/main" val="10012"/>
                  </a:ext>
                </a:extLst>
              </a:tr>
            </a:tbl>
          </a:graphicData>
        </a:graphic>
      </p:graphicFrame>
      <p:sp>
        <p:nvSpPr>
          <p:cNvPr id="94" name="Google Shape;94;p2"/>
          <p:cNvSpPr txBox="1"/>
          <p:nvPr/>
        </p:nvSpPr>
        <p:spPr>
          <a:xfrm>
            <a:off x="651478" y="1632599"/>
            <a:ext cx="3990300" cy="2709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000" b="1" i="0" u="none" strike="noStrike" cap="none">
                <a:solidFill>
                  <a:srgbClr val="000000"/>
                </a:solidFill>
                <a:latin typeface="Arial"/>
                <a:ea typeface="Arial"/>
                <a:cs typeface="Arial"/>
                <a:sym typeface="Arial"/>
              </a:rPr>
              <a:t>Audience: </a:t>
            </a:r>
            <a:r>
              <a:rPr lang="en-US" sz="1000" b="0" i="0" u="none" strike="noStrike" cap="none">
                <a:solidFill>
                  <a:srgbClr val="000000"/>
                </a:solidFill>
                <a:latin typeface="Arial"/>
                <a:ea typeface="Arial"/>
                <a:cs typeface="Arial"/>
                <a:sym typeface="Arial"/>
              </a:rPr>
              <a:t>Everyday American consumers + personal finance advisors; no economics background assumed</a:t>
            </a:r>
            <a:endParaRPr sz="1000"/>
          </a:p>
          <a:p>
            <a:pPr marL="0" marR="0" lvl="0" indent="0" algn="l" rtl="0">
              <a:lnSpc>
                <a:spcPct val="100000"/>
              </a:lnSpc>
              <a:spcBef>
                <a:spcPts val="0"/>
              </a:spcBef>
              <a:spcAft>
                <a:spcPts val="0"/>
              </a:spcAft>
              <a:buNone/>
            </a:pPr>
            <a:endParaRPr sz="10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000" b="1" i="0" u="none" strike="noStrike" cap="none">
                <a:solidFill>
                  <a:srgbClr val="000000"/>
                </a:solidFill>
                <a:latin typeface="Arial"/>
                <a:ea typeface="Arial"/>
                <a:cs typeface="Arial"/>
                <a:sym typeface="Arial"/>
              </a:rPr>
              <a:t>Question: </a:t>
            </a:r>
            <a:r>
              <a:rPr lang="en-US" sz="1000" b="0" i="0" u="none" strike="noStrike" cap="none">
                <a:solidFill>
                  <a:srgbClr val="000000"/>
                </a:solidFill>
                <a:latin typeface="Arial"/>
                <a:ea typeface="Arial"/>
                <a:cs typeface="Arial"/>
                <a:sym typeface="Arial"/>
              </a:rPr>
              <a:t>How has the U.S. savings rate shifted post-COVID, and which macro factors (unemployment, inflation, sentiment, income) drive Americans to save more or less?</a:t>
            </a:r>
            <a:endParaRPr sz="1000"/>
          </a:p>
          <a:p>
            <a:pPr marL="0" marR="0" lvl="0" indent="0" algn="l" rtl="0">
              <a:lnSpc>
                <a:spcPct val="100000"/>
              </a:lnSpc>
              <a:spcBef>
                <a:spcPts val="0"/>
              </a:spcBef>
              <a:spcAft>
                <a:spcPts val="0"/>
              </a:spcAft>
              <a:buNone/>
            </a:pPr>
            <a:endParaRPr sz="10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000" b="1" i="0" u="none" strike="noStrike" cap="none">
                <a:solidFill>
                  <a:srgbClr val="000000"/>
                </a:solidFill>
                <a:latin typeface="Arial"/>
                <a:ea typeface="Arial"/>
                <a:cs typeface="Arial"/>
                <a:sym typeface="Arial"/>
              </a:rPr>
              <a:t>Motivation: </a:t>
            </a:r>
            <a:r>
              <a:rPr lang="en-US" sz="1000" b="0" i="0" u="none" strike="noStrike" cap="none">
                <a:solidFill>
                  <a:srgbClr val="000000"/>
                </a:solidFill>
                <a:latin typeface="Arial"/>
                <a:ea typeface="Arial"/>
                <a:cs typeface="Arial"/>
                <a:sym typeface="Arial"/>
              </a:rPr>
              <a:t>Savings spiked to ~32% in April 2020 (</a:t>
            </a:r>
            <a:r>
              <a:rPr lang="en-US" sz="1000"/>
              <a:t>caused by stimulus and</a:t>
            </a:r>
            <a:r>
              <a:rPr lang="en-US" sz="1000" b="0" i="0" u="none" strike="noStrike" cap="none">
                <a:solidFill>
                  <a:srgbClr val="000000"/>
                </a:solidFill>
                <a:latin typeface="Arial"/>
                <a:ea typeface="Arial"/>
                <a:cs typeface="Arial"/>
                <a:sym typeface="Arial"/>
              </a:rPr>
              <a:t> </a:t>
            </a:r>
            <a:r>
              <a:rPr lang="en-US" sz="1000"/>
              <a:t>prolonged lockdowns</a:t>
            </a:r>
            <a:r>
              <a:rPr lang="en-US" sz="1000" b="0" i="0" u="none" strike="noStrike" cap="none">
                <a:solidFill>
                  <a:srgbClr val="000000"/>
                </a:solidFill>
                <a:latin typeface="Arial"/>
                <a:ea typeface="Arial"/>
                <a:cs typeface="Arial"/>
                <a:sym typeface="Arial"/>
              </a:rPr>
              <a:t>), then collapsed below pre-pandemic norms by 2022; understanding why helps consumers act and advisors advise proactively</a:t>
            </a:r>
            <a:endParaRPr sz="1000"/>
          </a:p>
          <a:p>
            <a:pPr marL="0" marR="0" lvl="0" indent="0" algn="l" rtl="0">
              <a:lnSpc>
                <a:spcPct val="100000"/>
              </a:lnSpc>
              <a:spcBef>
                <a:spcPts val="0"/>
              </a:spcBef>
              <a:spcAft>
                <a:spcPts val="0"/>
              </a:spcAft>
              <a:buNone/>
            </a:pPr>
            <a:endParaRPr sz="10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000" b="1" i="0" u="none" strike="noStrike" cap="none">
                <a:solidFill>
                  <a:srgbClr val="000000"/>
                </a:solidFill>
                <a:latin typeface="Arial"/>
                <a:ea typeface="Arial"/>
                <a:cs typeface="Arial"/>
                <a:sym typeface="Arial"/>
              </a:rPr>
              <a:t>Data: </a:t>
            </a:r>
            <a:r>
              <a:rPr lang="en-US" sz="1000" b="0" i="0" u="none" strike="noStrike" cap="none">
                <a:solidFill>
                  <a:srgbClr val="000000"/>
                </a:solidFill>
                <a:latin typeface="Arial"/>
                <a:ea typeface="Arial"/>
                <a:cs typeface="Arial"/>
                <a:sym typeface="Arial"/>
              </a:rPr>
              <a:t>12 monthly FRED series, Jan 2015 to Dec 2024 (120 observations); seasonally adjusted, zero missing values</a:t>
            </a:r>
            <a:endParaRPr sz="1000"/>
          </a:p>
          <a:p>
            <a:pPr marL="0" marR="0" lvl="0" indent="0" algn="l" rtl="0">
              <a:lnSpc>
                <a:spcPct val="100000"/>
              </a:lnSpc>
              <a:spcBef>
                <a:spcPts val="0"/>
              </a:spcBef>
              <a:spcAft>
                <a:spcPts val="0"/>
              </a:spcAft>
              <a:buNone/>
            </a:pPr>
            <a:endParaRPr sz="10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000" b="1" i="0" u="none" strike="noStrike" cap="none">
                <a:solidFill>
                  <a:srgbClr val="000000"/>
                </a:solidFill>
                <a:latin typeface="Arial"/>
                <a:ea typeface="Arial"/>
                <a:cs typeface="Arial"/>
                <a:sym typeface="Arial"/>
              </a:rPr>
              <a:t>Three Eras: </a:t>
            </a:r>
            <a:r>
              <a:rPr lang="en-US" sz="1000" b="0" i="0" u="none" strike="noStrike" cap="none">
                <a:solidFill>
                  <a:srgbClr val="000000"/>
                </a:solidFill>
                <a:latin typeface="Arial"/>
                <a:ea typeface="Arial"/>
                <a:cs typeface="Arial"/>
                <a:sym typeface="Arial"/>
              </a:rPr>
              <a:t>Pre-COVID (2015–19) baseline → COVID (2020–21) shock → Post-COVID (2022–24) normalization</a:t>
            </a:r>
            <a:endParaRPr sz="1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3"/>
          <p:cNvSpPr txBox="1">
            <a:spLocks noGrp="1"/>
          </p:cNvSpPr>
          <p:nvPr>
            <p:ph type="title"/>
          </p:nvPr>
        </p:nvSpPr>
        <p:spPr>
          <a:xfrm>
            <a:off x="727650" y="609813"/>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9658"/>
              <a:buNone/>
            </a:pPr>
            <a:r>
              <a:rPr lang="en-US" dirty="0"/>
              <a:t>Initial Data Inspection &amp; Data Cleaning Findings</a:t>
            </a:r>
            <a:endParaRPr dirty="0"/>
          </a:p>
        </p:txBody>
      </p:sp>
      <p:sp>
        <p:nvSpPr>
          <p:cNvPr id="100" name="Google Shape;100;p3"/>
          <p:cNvSpPr txBox="1"/>
          <p:nvPr/>
        </p:nvSpPr>
        <p:spPr>
          <a:xfrm>
            <a:off x="727650" y="1560867"/>
            <a:ext cx="8153700" cy="25551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n-US" sz="1000" b="1" dirty="0">
                <a:solidFill>
                  <a:schemeClr val="dk2"/>
                </a:solidFill>
              </a:rPr>
              <a:t>The data loaded cleanly:</a:t>
            </a:r>
            <a:r>
              <a:rPr lang="en-US" sz="1000" dirty="0">
                <a:solidFill>
                  <a:schemeClr val="dk2"/>
                </a:solidFill>
              </a:rPr>
              <a:t> Our full dataset contains 120 monthly observations across all 12 FRED series, with zero missing values across every column</a:t>
            </a:r>
            <a:endParaRPr sz="1000" dirty="0">
              <a:solidFill>
                <a:schemeClr val="dk2"/>
              </a:solidFill>
            </a:endParaRPr>
          </a:p>
          <a:p>
            <a:pPr marL="457200" lvl="0" indent="-292100" algn="l" rtl="0">
              <a:spcBef>
                <a:spcPts val="0"/>
              </a:spcBef>
              <a:spcAft>
                <a:spcPts val="0"/>
              </a:spcAft>
              <a:buClr>
                <a:schemeClr val="dk2"/>
              </a:buClr>
              <a:buSzPts val="1000"/>
              <a:buChar char="●"/>
            </a:pPr>
            <a:r>
              <a:rPr lang="en-US" sz="1000" dirty="0">
                <a:solidFill>
                  <a:schemeClr val="dk2"/>
                </a:solidFill>
              </a:rPr>
              <a:t>This was a strong signal that FRED's standardized, seasonally-adjusted data is a reliable foundation for this analysis</a:t>
            </a:r>
            <a:endParaRPr sz="1000" dirty="0">
              <a:solidFill>
                <a:schemeClr val="dk2"/>
              </a:solidFill>
            </a:endParaRPr>
          </a:p>
          <a:p>
            <a:pPr marL="914400" lvl="1" indent="-228600" algn="l" rtl="0">
              <a:spcBef>
                <a:spcPts val="0"/>
              </a:spcBef>
              <a:spcAft>
                <a:spcPts val="0"/>
              </a:spcAft>
              <a:buClr>
                <a:schemeClr val="dk1"/>
              </a:buClr>
              <a:buSzPts val="1200"/>
              <a:buFont typeface="Arial"/>
              <a:buNone/>
            </a:pPr>
            <a:endParaRPr sz="1000" dirty="0">
              <a:solidFill>
                <a:schemeClr val="dk2"/>
              </a:solidFill>
            </a:endParaRPr>
          </a:p>
          <a:p>
            <a:pPr marL="0" lvl="0" indent="0" algn="l" rtl="0">
              <a:spcBef>
                <a:spcPts val="0"/>
              </a:spcBef>
              <a:spcAft>
                <a:spcPts val="0"/>
              </a:spcAft>
              <a:buNone/>
            </a:pPr>
            <a:r>
              <a:rPr lang="en-US" sz="1000" b="1" dirty="0">
                <a:solidFill>
                  <a:schemeClr val="dk2"/>
                </a:solidFill>
              </a:rPr>
              <a:t>One immediate outlier stood out:</a:t>
            </a:r>
            <a:r>
              <a:rPr lang="en-US" sz="1000" dirty="0">
                <a:solidFill>
                  <a:schemeClr val="dk2"/>
                </a:solidFill>
              </a:rPr>
              <a:t> Summary statistics revealed a savings rate maximum of 31.8%, which was dramatically above the series mean of 7.2%</a:t>
            </a:r>
            <a:endParaRPr sz="1000" dirty="0">
              <a:solidFill>
                <a:schemeClr val="dk2"/>
              </a:solidFill>
            </a:endParaRPr>
          </a:p>
          <a:p>
            <a:pPr marL="457200" lvl="0" indent="-292100" algn="l" rtl="0">
              <a:spcBef>
                <a:spcPts val="0"/>
              </a:spcBef>
              <a:spcAft>
                <a:spcPts val="0"/>
              </a:spcAft>
              <a:buClr>
                <a:schemeClr val="dk2"/>
              </a:buClr>
              <a:buSzPts val="1000"/>
              <a:buChar char="●"/>
            </a:pPr>
            <a:r>
              <a:rPr lang="en-US" sz="1000" dirty="0">
                <a:solidFill>
                  <a:schemeClr val="dk2"/>
                </a:solidFill>
              </a:rPr>
              <a:t>Rather than flagging this as a data error, we recognized it as a real, consequential economic event: the April 2020 CARES Act stimulus spike, which we retained for exactly that reason</a:t>
            </a:r>
            <a:endParaRPr sz="1000" dirty="0">
              <a:solidFill>
                <a:schemeClr val="dk2"/>
              </a:solidFill>
            </a:endParaRPr>
          </a:p>
          <a:p>
            <a:pPr marL="914400" lvl="1" indent="-228600" algn="l" rtl="0">
              <a:spcBef>
                <a:spcPts val="0"/>
              </a:spcBef>
              <a:spcAft>
                <a:spcPts val="0"/>
              </a:spcAft>
              <a:buClr>
                <a:schemeClr val="dk1"/>
              </a:buClr>
              <a:buSzPts val="1200"/>
              <a:buFont typeface="Arial"/>
              <a:buNone/>
            </a:pPr>
            <a:endParaRPr sz="1000" dirty="0">
              <a:solidFill>
                <a:schemeClr val="dk2"/>
              </a:solidFill>
            </a:endParaRPr>
          </a:p>
          <a:p>
            <a:pPr marL="0" lvl="0" indent="0" algn="l" rtl="0">
              <a:spcBef>
                <a:spcPts val="0"/>
              </a:spcBef>
              <a:spcAft>
                <a:spcPts val="0"/>
              </a:spcAft>
              <a:buNone/>
            </a:pPr>
            <a:r>
              <a:rPr lang="en-US" sz="1000" b="1" dirty="0">
                <a:solidFill>
                  <a:schemeClr val="dk2"/>
                </a:solidFill>
              </a:rPr>
              <a:t>Cleaning was deliberate and conservative:</a:t>
            </a:r>
            <a:r>
              <a:rPr lang="en-US" sz="1000" dirty="0">
                <a:solidFill>
                  <a:schemeClr val="dk2"/>
                </a:solidFill>
              </a:rPr>
              <a:t> We applied a defensive data cleaning step to guard against any future gaps in FRED's source data, confirming that no rows were lost in the process; the dataset remained fully intact at 120 observations</a:t>
            </a:r>
            <a:endParaRPr sz="1000" dirty="0">
              <a:solidFill>
                <a:schemeClr val="dk2"/>
              </a:solidFill>
            </a:endParaRPr>
          </a:p>
          <a:p>
            <a:pPr marL="457200" lvl="0" indent="-228600" algn="l" rtl="0">
              <a:spcBef>
                <a:spcPts val="0"/>
              </a:spcBef>
              <a:spcAft>
                <a:spcPts val="0"/>
              </a:spcAft>
              <a:buClr>
                <a:schemeClr val="dk1"/>
              </a:buClr>
              <a:buSzPts val="1200"/>
              <a:buFont typeface="Arial"/>
              <a:buNone/>
            </a:pPr>
            <a:endParaRPr sz="1000" dirty="0">
              <a:solidFill>
                <a:schemeClr val="dk2"/>
              </a:solidFill>
            </a:endParaRPr>
          </a:p>
          <a:p>
            <a:pPr marL="0" lvl="0" indent="0" algn="l" rtl="0">
              <a:spcBef>
                <a:spcPts val="0"/>
              </a:spcBef>
              <a:spcAft>
                <a:spcPts val="0"/>
              </a:spcAft>
              <a:buNone/>
            </a:pPr>
            <a:r>
              <a:rPr lang="en-US" sz="1000" b="1" dirty="0">
                <a:solidFill>
                  <a:schemeClr val="dk2"/>
                </a:solidFill>
              </a:rPr>
              <a:t>Era labels unlocked time-series analysis:</a:t>
            </a:r>
            <a:r>
              <a:rPr lang="en-US" sz="1000" dirty="0">
                <a:solidFill>
                  <a:schemeClr val="dk2"/>
                </a:solidFill>
              </a:rPr>
              <a:t> A key preparation step was assigning each month to one of three economic eras: Pre-COVID (2015–2019), COVID (2020–2021), and Post-COVID (2022–2024). A classification that becomes central to nearly every finding in the slides that follow</a:t>
            </a:r>
            <a:endParaRPr sz="1000" dirty="0">
              <a:solidFill>
                <a:schemeClr val="dk2"/>
              </a:solidFill>
            </a:endParaRPr>
          </a:p>
          <a:p>
            <a:pPr marL="0" marR="0" lvl="0" indent="0" algn="l" rtl="0">
              <a:lnSpc>
                <a:spcPct val="100000"/>
              </a:lnSpc>
              <a:spcBef>
                <a:spcPts val="0"/>
              </a:spcBef>
              <a:spcAft>
                <a:spcPts val="0"/>
              </a:spcAft>
              <a:buNone/>
            </a:pPr>
            <a:endParaRPr sz="1000"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727650" y="55270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9658"/>
              <a:buNone/>
            </a:pPr>
            <a:r>
              <a:rPr lang="en-US" dirty="0"/>
              <a:t>Initial Analysis of Savings Rates Findings</a:t>
            </a:r>
            <a:endParaRPr dirty="0"/>
          </a:p>
        </p:txBody>
      </p:sp>
      <p:sp>
        <p:nvSpPr>
          <p:cNvPr id="106" name="Google Shape;106;p4"/>
          <p:cNvSpPr/>
          <p:nvPr/>
        </p:nvSpPr>
        <p:spPr>
          <a:xfrm>
            <a:off x="729450" y="4169850"/>
            <a:ext cx="7688700" cy="7341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000" b="1" i="0" u="none" strike="noStrike" cap="none">
                <a:solidFill>
                  <a:srgbClr val="000000"/>
                </a:solidFill>
                <a:latin typeface="Arial"/>
                <a:ea typeface="Arial"/>
                <a:cs typeface="Arial"/>
                <a:sym typeface="Arial"/>
              </a:rPr>
              <a:t>Implication for financial advisors and clients: </a:t>
            </a:r>
            <a:r>
              <a:rPr lang="en-US" sz="1000" b="0" i="0" u="none" strike="noStrike" cap="none">
                <a:solidFill>
                  <a:srgbClr val="000000"/>
                </a:solidFill>
                <a:latin typeface="Arial"/>
                <a:ea typeface="Arial"/>
                <a:cs typeface="Arial"/>
                <a:sym typeface="Arial"/>
              </a:rPr>
              <a:t>The post-COVID floor of 3 - 5% is the “new” modern benchmark; any savings plan built on the assumption that a household "should" be saving 6 - 8% needs to account for the macro headwinds that have made that target materially harder to hit since 2022</a:t>
            </a:r>
            <a:endParaRPr sz="1000" b="0" i="0" u="none" strike="noStrike" cap="none">
              <a:solidFill>
                <a:srgbClr val="000000"/>
              </a:solidFill>
              <a:latin typeface="Arial"/>
              <a:ea typeface="Arial"/>
              <a:cs typeface="Arial"/>
              <a:sym typeface="Arial"/>
            </a:endParaRPr>
          </a:p>
        </p:txBody>
      </p:sp>
      <p:pic>
        <p:nvPicPr>
          <p:cNvPr id="107" name="Google Shape;107;p4" title="savings_rate_timeline.png"/>
          <p:cNvPicPr preferRelativeResize="0"/>
          <p:nvPr/>
        </p:nvPicPr>
        <p:blipFill rotWithShape="1">
          <a:blip r:embed="rId3">
            <a:alphaModFix/>
          </a:blip>
          <a:srcRect/>
          <a:stretch/>
        </p:blipFill>
        <p:spPr>
          <a:xfrm>
            <a:off x="5005049" y="1459062"/>
            <a:ext cx="3409501" cy="2225375"/>
          </a:xfrm>
          <a:prstGeom prst="rect">
            <a:avLst/>
          </a:prstGeom>
          <a:noFill/>
          <a:ln>
            <a:noFill/>
          </a:ln>
          <a:effectLst>
            <a:outerShdw blurRad="190500" algn="tl" rotWithShape="0">
              <a:srgbClr val="000000">
                <a:alpha val="70196"/>
              </a:srgbClr>
            </a:outerShdw>
          </a:effectLst>
        </p:spPr>
      </p:pic>
      <p:sp>
        <p:nvSpPr>
          <p:cNvPr id="108" name="Google Shape;108;p4"/>
          <p:cNvSpPr txBox="1"/>
          <p:nvPr/>
        </p:nvSpPr>
        <p:spPr>
          <a:xfrm>
            <a:off x="727650" y="1497575"/>
            <a:ext cx="4150500" cy="22626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n-US" sz="1000" b="1" dirty="0">
                <a:solidFill>
                  <a:schemeClr val="dk2"/>
                </a:solidFill>
              </a:rPr>
              <a:t>Top 5 savings months: </a:t>
            </a:r>
            <a:r>
              <a:rPr lang="en-US" sz="1000" dirty="0">
                <a:solidFill>
                  <a:schemeClr val="dk2"/>
                </a:solidFill>
              </a:rPr>
              <a:t>All COVID-era (April 2020 leads at 31.8%); stimulus payments + suppressed spending</a:t>
            </a:r>
            <a:endParaRPr sz="1000" dirty="0">
              <a:solidFill>
                <a:schemeClr val="dk2"/>
              </a:solidFill>
            </a:endParaRPr>
          </a:p>
          <a:p>
            <a:pPr marL="158750" lvl="0" indent="0" algn="l" rtl="0">
              <a:spcBef>
                <a:spcPts val="0"/>
              </a:spcBef>
              <a:spcAft>
                <a:spcPts val="0"/>
              </a:spcAft>
              <a:buNone/>
            </a:pPr>
            <a:endParaRPr sz="1000" dirty="0">
              <a:solidFill>
                <a:schemeClr val="dk2"/>
              </a:solidFill>
            </a:endParaRPr>
          </a:p>
          <a:p>
            <a:pPr marL="0" lvl="0" indent="0" algn="l" rtl="0">
              <a:spcBef>
                <a:spcPts val="0"/>
              </a:spcBef>
              <a:spcAft>
                <a:spcPts val="0"/>
              </a:spcAft>
              <a:buNone/>
            </a:pPr>
            <a:r>
              <a:rPr lang="en-US" sz="1000" b="1" dirty="0">
                <a:solidFill>
                  <a:schemeClr val="dk2"/>
                </a:solidFill>
              </a:rPr>
              <a:t>Bottom 5 savings months: </a:t>
            </a:r>
            <a:r>
              <a:rPr lang="en-US" sz="1000" dirty="0">
                <a:solidFill>
                  <a:schemeClr val="dk2"/>
                </a:solidFill>
              </a:rPr>
              <a:t>All in 2022, clustered around 3%: the same households hit a historic floor just two years later</a:t>
            </a:r>
            <a:endParaRPr sz="1000" dirty="0">
              <a:solidFill>
                <a:schemeClr val="dk2"/>
              </a:solidFill>
            </a:endParaRPr>
          </a:p>
          <a:p>
            <a:pPr marL="158750" lvl="0" indent="0" algn="l" rtl="0">
              <a:spcBef>
                <a:spcPts val="0"/>
              </a:spcBef>
              <a:spcAft>
                <a:spcPts val="0"/>
              </a:spcAft>
              <a:buNone/>
            </a:pPr>
            <a:endParaRPr sz="1000" dirty="0">
              <a:solidFill>
                <a:schemeClr val="dk2"/>
              </a:solidFill>
            </a:endParaRPr>
          </a:p>
          <a:p>
            <a:pPr marL="0" lvl="0" indent="0" algn="l" rtl="0">
              <a:spcBef>
                <a:spcPts val="0"/>
              </a:spcBef>
              <a:spcAft>
                <a:spcPts val="0"/>
              </a:spcAft>
              <a:buNone/>
            </a:pPr>
            <a:r>
              <a:rPr lang="en-US" sz="1000" b="1" dirty="0">
                <a:solidFill>
                  <a:schemeClr val="dk2"/>
                </a:solidFill>
              </a:rPr>
              <a:t>The chart tells the full story: </a:t>
            </a:r>
            <a:r>
              <a:rPr lang="en-US" sz="1000" dirty="0">
                <a:solidFill>
                  <a:schemeClr val="dk2"/>
                </a:solidFill>
              </a:rPr>
              <a:t>Stable 6 - 8% baseline → near-vertical spike to 32% → secondary 2021 bump (3rd stimulus) → steep descent below pre-pandemic baseline by mid-2022, staying there through 2024</a:t>
            </a:r>
            <a:endParaRPr sz="1000" dirty="0">
              <a:solidFill>
                <a:schemeClr val="dk2"/>
              </a:solidFill>
            </a:endParaRPr>
          </a:p>
          <a:p>
            <a:pPr marL="158750" lvl="0" indent="0" algn="l" rtl="0">
              <a:spcBef>
                <a:spcPts val="0"/>
              </a:spcBef>
              <a:spcAft>
                <a:spcPts val="0"/>
              </a:spcAft>
              <a:buNone/>
            </a:pPr>
            <a:endParaRPr sz="1000" dirty="0">
              <a:solidFill>
                <a:schemeClr val="dk2"/>
              </a:solidFill>
            </a:endParaRPr>
          </a:p>
          <a:p>
            <a:pPr marL="0" lvl="0" indent="0" algn="l" rtl="0">
              <a:spcBef>
                <a:spcPts val="0"/>
              </a:spcBef>
              <a:spcAft>
                <a:spcPts val="0"/>
              </a:spcAft>
              <a:buNone/>
            </a:pPr>
            <a:r>
              <a:rPr lang="en-US" sz="1000" b="1" dirty="0">
                <a:solidFill>
                  <a:schemeClr val="dk2"/>
                </a:solidFill>
              </a:rPr>
              <a:t>Key implication: </a:t>
            </a:r>
            <a:r>
              <a:rPr lang="en-US" sz="1000" dirty="0">
                <a:solidFill>
                  <a:schemeClr val="dk2"/>
                </a:solidFill>
              </a:rPr>
              <a:t>The savings environment has structurally worsened since the pandemic, not recovered</a:t>
            </a:r>
            <a:endParaRPr sz="1000" dirty="0">
              <a:solidFill>
                <a:schemeClr val="dk2"/>
              </a:solidFill>
            </a:endParaRPr>
          </a:p>
          <a:p>
            <a:pPr marL="0" marR="0" lvl="0" indent="0" algn="l" rtl="0">
              <a:lnSpc>
                <a:spcPct val="100000"/>
              </a:lnSpc>
              <a:spcBef>
                <a:spcPts val="0"/>
              </a:spcBef>
              <a:spcAft>
                <a:spcPts val="0"/>
              </a:spcAft>
              <a:buNone/>
            </a:pPr>
            <a:endParaRPr sz="1100" b="1" dirty="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pic>
        <p:nvPicPr>
          <p:cNvPr id="113" name="Google Shape;113;p5" title="correlation_matrix.png"/>
          <p:cNvPicPr preferRelativeResize="0"/>
          <p:nvPr/>
        </p:nvPicPr>
        <p:blipFill rotWithShape="1">
          <a:blip r:embed="rId3">
            <a:alphaModFix/>
          </a:blip>
          <a:srcRect/>
          <a:stretch/>
        </p:blipFill>
        <p:spPr>
          <a:xfrm>
            <a:off x="5331925" y="1474162"/>
            <a:ext cx="3084425" cy="2242874"/>
          </a:xfrm>
          <a:prstGeom prst="rect">
            <a:avLst/>
          </a:prstGeom>
          <a:noFill/>
          <a:ln>
            <a:noFill/>
          </a:ln>
          <a:effectLst>
            <a:outerShdw blurRad="190500" algn="tl" rotWithShape="0">
              <a:srgbClr val="000000">
                <a:alpha val="70196"/>
              </a:srgbClr>
            </a:outerShdw>
          </a:effectLst>
        </p:spPr>
      </p:pic>
      <p:sp>
        <p:nvSpPr>
          <p:cNvPr id="114" name="Google Shape;114;p5"/>
          <p:cNvSpPr txBox="1">
            <a:spLocks noGrp="1"/>
          </p:cNvSpPr>
          <p:nvPr>
            <p:ph type="title"/>
          </p:nvPr>
        </p:nvSpPr>
        <p:spPr>
          <a:xfrm>
            <a:off x="727650" y="644475"/>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spcBef>
                <a:spcPts val="0"/>
              </a:spcBef>
              <a:spcAft>
                <a:spcPts val="0"/>
              </a:spcAft>
              <a:buClr>
                <a:srgbClr val="000000"/>
              </a:buClr>
              <a:buSzPct val="119658"/>
              <a:buFont typeface="Arial"/>
              <a:buNone/>
            </a:pPr>
            <a:r>
              <a:rPr lang="en-US"/>
              <a:t>Correlations Between Savings Rate &amp; Other Series</a:t>
            </a:r>
            <a:endParaRPr/>
          </a:p>
          <a:p>
            <a:pPr marL="0" lvl="0" indent="0" algn="l" rtl="0">
              <a:lnSpc>
                <a:spcPct val="100000"/>
              </a:lnSpc>
              <a:spcBef>
                <a:spcPts val="0"/>
              </a:spcBef>
              <a:spcAft>
                <a:spcPts val="0"/>
              </a:spcAft>
              <a:buSzPct val="119658"/>
              <a:buNone/>
            </a:pPr>
            <a:endParaRPr/>
          </a:p>
        </p:txBody>
      </p:sp>
      <p:sp>
        <p:nvSpPr>
          <p:cNvPr id="115" name="Google Shape;115;p5"/>
          <p:cNvSpPr/>
          <p:nvPr/>
        </p:nvSpPr>
        <p:spPr>
          <a:xfrm>
            <a:off x="729450" y="4169850"/>
            <a:ext cx="7688700" cy="7341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000" b="1" i="0" u="none" strike="noStrike" cap="none">
                <a:solidFill>
                  <a:srgbClr val="000000"/>
                </a:solidFill>
                <a:latin typeface="Arial"/>
                <a:ea typeface="Arial"/>
                <a:cs typeface="Arial"/>
                <a:sym typeface="Arial"/>
              </a:rPr>
              <a:t>Implication for financial advisors and clients: </a:t>
            </a:r>
            <a:r>
              <a:rPr lang="en-US" sz="1000"/>
              <a:t>When advisors see inflation rising, retail spending climbing, and revolving credit balances growing simultaneously (as has been the case since 2022), the data suggests these three forces impede a client's ability to save, indicating opportunities to pursue proactive savings conversations</a:t>
            </a:r>
            <a:endParaRPr sz="1000"/>
          </a:p>
        </p:txBody>
      </p:sp>
      <p:sp>
        <p:nvSpPr>
          <p:cNvPr id="116" name="Google Shape;116;p5"/>
          <p:cNvSpPr txBox="1"/>
          <p:nvPr/>
        </p:nvSpPr>
        <p:spPr>
          <a:xfrm>
            <a:off x="725850" y="1474162"/>
            <a:ext cx="4428600" cy="24012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n-US" sz="1000" b="1" dirty="0"/>
              <a:t>Unemployment (r = 0.83):</a:t>
            </a:r>
            <a:r>
              <a:rPr lang="en-US" sz="1000" dirty="0"/>
              <a:t> Strongest positive correlation, but almost entirely a COVID artifact; stimulus and job losses spiked simultaneously; the relationship disappears outside that window</a:t>
            </a:r>
            <a:endParaRPr sz="1300" dirty="0"/>
          </a:p>
          <a:p>
            <a:pPr marL="0" lvl="0" indent="0" algn="l" rtl="0">
              <a:spcBef>
                <a:spcPts val="0"/>
              </a:spcBef>
              <a:spcAft>
                <a:spcPts val="0"/>
              </a:spcAft>
              <a:buNone/>
            </a:pPr>
            <a:endParaRPr sz="1000" dirty="0"/>
          </a:p>
          <a:p>
            <a:pPr marL="0" lvl="0" indent="0" algn="l" rtl="0">
              <a:spcBef>
                <a:spcPts val="0"/>
              </a:spcBef>
              <a:spcAft>
                <a:spcPts val="0"/>
              </a:spcAft>
              <a:buNone/>
            </a:pPr>
            <a:r>
              <a:rPr lang="en-US" sz="1000" b="1" dirty="0"/>
              <a:t>Real disposable income (r = 0.38):</a:t>
            </a:r>
            <a:r>
              <a:rPr lang="en-US" sz="1000" dirty="0"/>
              <a:t> The more economically meaningful positive signal; holds across all three eras</a:t>
            </a:r>
            <a:endParaRPr sz="1300" dirty="0"/>
          </a:p>
          <a:p>
            <a:pPr marL="0" lvl="0" indent="0" algn="l" rtl="0">
              <a:spcBef>
                <a:spcPts val="0"/>
              </a:spcBef>
              <a:spcAft>
                <a:spcPts val="0"/>
              </a:spcAft>
              <a:buNone/>
            </a:pPr>
            <a:endParaRPr sz="1000" dirty="0"/>
          </a:p>
          <a:p>
            <a:pPr marL="0" lvl="0" indent="0" algn="l" rtl="0">
              <a:spcBef>
                <a:spcPts val="0"/>
              </a:spcBef>
              <a:spcAft>
                <a:spcPts val="0"/>
              </a:spcAft>
              <a:buNone/>
            </a:pPr>
            <a:r>
              <a:rPr lang="en-US" sz="1000" b="1" dirty="0"/>
              <a:t>Strongest negative correlations:</a:t>
            </a:r>
            <a:r>
              <a:rPr lang="en-US" sz="1000" dirty="0"/>
              <a:t> Retail sales (spending), revolving credit (borrowing), and the federal funds rate; higher spending and borrowing directly crowd out saving</a:t>
            </a:r>
            <a:endParaRPr sz="1300" dirty="0"/>
          </a:p>
          <a:p>
            <a:pPr marL="0" lvl="0" indent="0" algn="l" rtl="0">
              <a:spcBef>
                <a:spcPts val="0"/>
              </a:spcBef>
              <a:spcAft>
                <a:spcPts val="0"/>
              </a:spcAft>
              <a:buNone/>
            </a:pPr>
            <a:endParaRPr sz="1000" dirty="0"/>
          </a:p>
          <a:p>
            <a:pPr marL="0" lvl="0" indent="0" algn="l" rtl="0">
              <a:spcBef>
                <a:spcPts val="0"/>
              </a:spcBef>
              <a:spcAft>
                <a:spcPts val="0"/>
              </a:spcAft>
              <a:buNone/>
            </a:pPr>
            <a:r>
              <a:rPr lang="en-US" sz="1000" b="1" dirty="0"/>
              <a:t>Heatmap insight:</a:t>
            </a:r>
            <a:r>
              <a:rPr lang="en-US" sz="1000" dirty="0"/>
              <a:t> CPI, PCE, retail sales, home prices, and hourly earnings all move in lockstep (shared inflationary trend); consumer sentiment moves opposite that cluster, and it falls when prices and spending rise</a:t>
            </a:r>
            <a:endParaRPr sz="1000" b="1" dirty="0">
              <a:solidFill>
                <a:schemeClr val="dk2"/>
              </a:solidFill>
            </a:endParaRPr>
          </a:p>
          <a:p>
            <a:pPr marL="0" marR="0" lvl="0" indent="0" algn="l" rtl="0">
              <a:lnSpc>
                <a:spcPct val="100000"/>
              </a:lnSpc>
              <a:spcBef>
                <a:spcPts val="0"/>
              </a:spcBef>
              <a:spcAft>
                <a:spcPts val="0"/>
              </a:spcAft>
              <a:buNone/>
            </a:pPr>
            <a:endParaRPr sz="1000" b="1" dirty="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pic>
        <p:nvPicPr>
          <p:cNvPr id="121" name="Google Shape;121;p6" title="mean_savings_rate_by_era.png"/>
          <p:cNvPicPr preferRelativeResize="0"/>
          <p:nvPr/>
        </p:nvPicPr>
        <p:blipFill rotWithShape="1">
          <a:blip r:embed="rId3">
            <a:alphaModFix/>
          </a:blip>
          <a:srcRect/>
          <a:stretch/>
        </p:blipFill>
        <p:spPr>
          <a:xfrm>
            <a:off x="5158050" y="2610300"/>
            <a:ext cx="3260100" cy="1578928"/>
          </a:xfrm>
          <a:prstGeom prst="rect">
            <a:avLst/>
          </a:prstGeom>
          <a:noFill/>
          <a:ln>
            <a:noFill/>
          </a:ln>
          <a:effectLst>
            <a:outerShdw blurRad="190500" algn="tl" rotWithShape="0">
              <a:srgbClr val="000000">
                <a:alpha val="70196"/>
              </a:srgbClr>
            </a:outerShdw>
          </a:effectLst>
        </p:spPr>
      </p:pic>
      <p:pic>
        <p:nvPicPr>
          <p:cNvPr id="122" name="Google Shape;122;p6" title="savings_vs_unemployment_by_era.png"/>
          <p:cNvPicPr preferRelativeResize="0"/>
          <p:nvPr/>
        </p:nvPicPr>
        <p:blipFill rotWithShape="1">
          <a:blip r:embed="rId4">
            <a:alphaModFix/>
          </a:blip>
          <a:srcRect/>
          <a:stretch/>
        </p:blipFill>
        <p:spPr>
          <a:xfrm>
            <a:off x="6251944" y="728191"/>
            <a:ext cx="2707641" cy="1653502"/>
          </a:xfrm>
          <a:prstGeom prst="rect">
            <a:avLst/>
          </a:prstGeom>
          <a:noFill/>
          <a:ln>
            <a:noFill/>
          </a:ln>
          <a:effectLst>
            <a:outerShdw blurRad="190500" algn="tl" rotWithShape="0">
              <a:srgbClr val="000000">
                <a:alpha val="70196"/>
              </a:srgbClr>
            </a:outerShdw>
          </a:effectLst>
        </p:spPr>
      </p:pic>
      <p:sp>
        <p:nvSpPr>
          <p:cNvPr id="123" name="Google Shape;123;p6"/>
          <p:cNvSpPr txBox="1">
            <a:spLocks noGrp="1"/>
          </p:cNvSpPr>
          <p:nvPr>
            <p:ph type="title"/>
          </p:nvPr>
        </p:nvSpPr>
        <p:spPr>
          <a:xfrm>
            <a:off x="289971" y="608046"/>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spcBef>
                <a:spcPts val="0"/>
              </a:spcBef>
              <a:spcAft>
                <a:spcPts val="0"/>
              </a:spcAft>
              <a:buClr>
                <a:srgbClr val="000000"/>
              </a:buClr>
              <a:buSzPct val="112000"/>
              <a:buFont typeface="Arial"/>
              <a:buNone/>
            </a:pPr>
            <a:r>
              <a:rPr lang="en-US" sz="2500" dirty="0"/>
              <a:t>Era Comparisons &amp; COVID vs. Non-COVID</a:t>
            </a:r>
            <a:endParaRPr sz="2500" dirty="0"/>
          </a:p>
          <a:p>
            <a:pPr marL="0" lvl="0" indent="0" algn="l" rtl="0">
              <a:spcBef>
                <a:spcPts val="0"/>
              </a:spcBef>
              <a:spcAft>
                <a:spcPts val="0"/>
              </a:spcAft>
              <a:buSzPct val="119658"/>
              <a:buNone/>
            </a:pPr>
            <a:endParaRPr dirty="0"/>
          </a:p>
          <a:p>
            <a:pPr marL="0" lvl="0" indent="0" algn="l" rtl="0">
              <a:lnSpc>
                <a:spcPct val="100000"/>
              </a:lnSpc>
              <a:spcBef>
                <a:spcPts val="0"/>
              </a:spcBef>
              <a:spcAft>
                <a:spcPts val="0"/>
              </a:spcAft>
              <a:buSzPct val="119658"/>
              <a:buNone/>
            </a:pPr>
            <a:endParaRPr dirty="0"/>
          </a:p>
        </p:txBody>
      </p:sp>
      <p:sp>
        <p:nvSpPr>
          <p:cNvPr id="124" name="Google Shape;124;p6"/>
          <p:cNvSpPr/>
          <p:nvPr/>
        </p:nvSpPr>
        <p:spPr>
          <a:xfrm>
            <a:off x="729450" y="4368750"/>
            <a:ext cx="7688700" cy="5352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000" b="1" i="0" u="none" strike="noStrike" cap="none">
                <a:solidFill>
                  <a:schemeClr val="dk2"/>
                </a:solidFill>
                <a:latin typeface="Arial"/>
                <a:ea typeface="Arial"/>
                <a:cs typeface="Arial"/>
                <a:sym typeface="Arial"/>
              </a:rPr>
              <a:t>Implication for financial advisors and clients: </a:t>
            </a:r>
            <a:r>
              <a:rPr lang="en-US" sz="1000">
                <a:solidFill>
                  <a:schemeClr val="dk2"/>
                </a:solidFill>
              </a:rPr>
              <a:t>A drop in consumer sentiment may actually be an early leading indicator that clients are about to increase their savings buffers, which is a useful signal for proactive planning</a:t>
            </a:r>
            <a:endParaRPr sz="1000">
              <a:solidFill>
                <a:schemeClr val="dk2"/>
              </a:solidFill>
            </a:endParaRPr>
          </a:p>
        </p:txBody>
      </p:sp>
      <p:sp>
        <p:nvSpPr>
          <p:cNvPr id="125" name="Google Shape;125;p6"/>
          <p:cNvSpPr txBox="1"/>
          <p:nvPr/>
        </p:nvSpPr>
        <p:spPr>
          <a:xfrm>
            <a:off x="414246" y="1480963"/>
            <a:ext cx="4428600" cy="25860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n-US" sz="900" b="1" dirty="0"/>
              <a:t>Post-COVID is the worst savings era</a:t>
            </a:r>
            <a:r>
              <a:rPr lang="en-US" sz="900" dirty="0"/>
              <a:t> despite income being highest: mean savings rate just 4.8% vs. 6.1% pre-COVID; inflation, housing costs, and credit are absorbing income gains</a:t>
            </a:r>
            <a:endParaRPr sz="900" dirty="0"/>
          </a:p>
          <a:p>
            <a:pPr marL="0" lvl="0" indent="0" algn="l" rtl="0">
              <a:spcBef>
                <a:spcPts val="0"/>
              </a:spcBef>
              <a:spcAft>
                <a:spcPts val="0"/>
              </a:spcAft>
              <a:buNone/>
            </a:pPr>
            <a:endParaRPr sz="900" dirty="0"/>
          </a:p>
          <a:p>
            <a:pPr marL="0" lvl="0" indent="0" algn="l" rtl="0">
              <a:spcBef>
                <a:spcPts val="0"/>
              </a:spcBef>
              <a:spcAft>
                <a:spcPts val="0"/>
              </a:spcAft>
              <a:buNone/>
            </a:pPr>
            <a:r>
              <a:rPr lang="en-US" sz="900" b="1" dirty="0"/>
              <a:t>Scatterplot (savings vs. unemployment by era):</a:t>
            </a:r>
            <a:r>
              <a:rPr lang="en-US" sz="900" dirty="0"/>
              <a:t> Confirms the COVID coupling is purely stimulus-driven, not a structural relationship</a:t>
            </a:r>
            <a:endParaRPr sz="900" dirty="0"/>
          </a:p>
          <a:p>
            <a:pPr marL="0" lvl="0" indent="0" algn="l" rtl="0">
              <a:spcBef>
                <a:spcPts val="0"/>
              </a:spcBef>
              <a:spcAft>
                <a:spcPts val="0"/>
              </a:spcAft>
              <a:buNone/>
            </a:pPr>
            <a:endParaRPr sz="900" dirty="0"/>
          </a:p>
          <a:p>
            <a:pPr marL="0" lvl="0" indent="0" algn="l" rtl="0">
              <a:spcBef>
                <a:spcPts val="0"/>
              </a:spcBef>
              <a:spcAft>
                <a:spcPts val="0"/>
              </a:spcAft>
              <a:buNone/>
            </a:pPr>
            <a:r>
              <a:rPr lang="en-US" sz="900" b="1" dirty="0"/>
              <a:t>Mean savings bar chart - the single clearest takeaway:</a:t>
            </a:r>
            <a:r>
              <a:rPr lang="en-US" sz="900" dirty="0"/>
              <a:t> COVID highest (13.2%, stimulus-driven) → Pre-COVID middle (6.1%) → Post-COVID lowest (4.8%), illustrating a structural decline</a:t>
            </a:r>
            <a:endParaRPr sz="900" dirty="0"/>
          </a:p>
          <a:p>
            <a:pPr marL="0" lvl="0" indent="0" algn="l" rtl="0">
              <a:spcBef>
                <a:spcPts val="0"/>
              </a:spcBef>
              <a:spcAft>
                <a:spcPts val="0"/>
              </a:spcAft>
              <a:buNone/>
            </a:pPr>
            <a:endParaRPr sz="900" dirty="0"/>
          </a:p>
          <a:p>
            <a:pPr marL="0" lvl="0" indent="0" algn="l" rtl="0">
              <a:spcBef>
                <a:spcPts val="0"/>
              </a:spcBef>
              <a:spcAft>
                <a:spcPts val="0"/>
              </a:spcAft>
              <a:buNone/>
            </a:pPr>
            <a:r>
              <a:rPr lang="en-US" sz="900" b="1" dirty="0"/>
              <a:t>COVID vs. non-COVID comparison:</a:t>
            </a:r>
            <a:r>
              <a:rPr lang="en-US" sz="900" dirty="0"/>
              <a:t> Savings averaged 13.2% during COVID vs. 5.6% outside it; revolving credit was actually </a:t>
            </a:r>
            <a:r>
              <a:rPr lang="en-US" sz="900" i="1" dirty="0"/>
              <a:t>lower</a:t>
            </a:r>
            <a:r>
              <a:rPr lang="en-US" sz="900" dirty="0"/>
              <a:t> during COVID ($990M vs. $1.08B)</a:t>
            </a:r>
            <a:endParaRPr sz="900" dirty="0"/>
          </a:p>
          <a:p>
            <a:pPr marL="0" lvl="0" indent="0" algn="l" rtl="0">
              <a:spcBef>
                <a:spcPts val="0"/>
              </a:spcBef>
              <a:spcAft>
                <a:spcPts val="0"/>
              </a:spcAft>
              <a:buNone/>
            </a:pPr>
            <a:endParaRPr sz="900" dirty="0"/>
          </a:p>
          <a:p>
            <a:pPr marL="0" lvl="0" indent="0" algn="l" rtl="0">
              <a:spcBef>
                <a:spcPts val="0"/>
              </a:spcBef>
              <a:spcAft>
                <a:spcPts val="0"/>
              </a:spcAft>
              <a:buNone/>
            </a:pPr>
            <a:r>
              <a:rPr lang="en-US" sz="900" b="1" dirty="0"/>
              <a:t>Counter-intuitive sentiment finding:</a:t>
            </a:r>
            <a:r>
              <a:rPr lang="en-US" sz="900" dirty="0"/>
              <a:t> Consumer sentiment was </a:t>
            </a:r>
            <a:r>
              <a:rPr lang="en-US" sz="900" i="1" dirty="0"/>
              <a:t>lower</a:t>
            </a:r>
            <a:r>
              <a:rPr lang="en-US" sz="900" dirty="0"/>
              <a:t> during COVID (79.6 vs. 84.1) yet savings were dramatically higher; this suggests uncertainty triggers precautionary saving behavior</a:t>
            </a:r>
            <a:endParaRPr sz="900"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7"/>
          <p:cNvSpPr txBox="1">
            <a:spLocks noGrp="1"/>
          </p:cNvSpPr>
          <p:nvPr>
            <p:ph type="title"/>
          </p:nvPr>
        </p:nvSpPr>
        <p:spPr>
          <a:xfrm>
            <a:off x="644390" y="4042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spcBef>
                <a:spcPts val="0"/>
              </a:spcBef>
              <a:spcAft>
                <a:spcPts val="0"/>
              </a:spcAft>
              <a:buSzPct val="124444"/>
              <a:buNone/>
            </a:pPr>
            <a:r>
              <a:rPr lang="en-US" dirty="0"/>
              <a:t>Second-Degree Analysis and Findings Using Normalized Data (1)</a:t>
            </a:r>
            <a:endParaRPr sz="2500" dirty="0"/>
          </a:p>
          <a:p>
            <a:pPr marL="0" lvl="0" indent="0" algn="l" rtl="0">
              <a:spcBef>
                <a:spcPts val="0"/>
              </a:spcBef>
              <a:spcAft>
                <a:spcPts val="0"/>
              </a:spcAft>
              <a:buSzPct val="119658"/>
              <a:buNone/>
            </a:pPr>
            <a:endParaRPr dirty="0"/>
          </a:p>
          <a:p>
            <a:pPr marL="0" lvl="0" indent="0" algn="l" rtl="0">
              <a:lnSpc>
                <a:spcPct val="100000"/>
              </a:lnSpc>
              <a:spcBef>
                <a:spcPts val="0"/>
              </a:spcBef>
              <a:spcAft>
                <a:spcPts val="0"/>
              </a:spcAft>
              <a:buSzPct val="119658"/>
              <a:buNone/>
            </a:pPr>
            <a:endParaRPr dirty="0"/>
          </a:p>
        </p:txBody>
      </p:sp>
      <p:sp>
        <p:nvSpPr>
          <p:cNvPr id="131" name="Google Shape;131;p7"/>
          <p:cNvSpPr txBox="1"/>
          <p:nvPr/>
        </p:nvSpPr>
        <p:spPr>
          <a:xfrm>
            <a:off x="729450" y="1594451"/>
            <a:ext cx="8153700" cy="16317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n-US" sz="1000" b="1" dirty="0">
                <a:solidFill>
                  <a:schemeClr val="dk2"/>
                </a:solidFill>
              </a:rPr>
              <a:t>Two new features engineered: </a:t>
            </a:r>
            <a:r>
              <a:rPr lang="en-US" sz="1000" dirty="0">
                <a:solidFill>
                  <a:schemeClr val="dk2"/>
                </a:solidFill>
              </a:rPr>
              <a:t>Savings-to-income ratio (savings as share of take-home) and credit-to-income ratio (revolving debt relative to income)</a:t>
            </a:r>
            <a:endParaRPr sz="1000" dirty="0">
              <a:solidFill>
                <a:schemeClr val="dk2"/>
              </a:solidFill>
            </a:endParaRPr>
          </a:p>
          <a:p>
            <a:pPr marL="158750" lvl="0" indent="0" algn="l" rtl="0">
              <a:spcBef>
                <a:spcPts val="0"/>
              </a:spcBef>
              <a:spcAft>
                <a:spcPts val="0"/>
              </a:spcAft>
              <a:buNone/>
            </a:pPr>
            <a:endParaRPr sz="1000" dirty="0">
              <a:solidFill>
                <a:schemeClr val="dk2"/>
              </a:solidFill>
            </a:endParaRPr>
          </a:p>
          <a:p>
            <a:pPr marL="0" lvl="0" indent="0" algn="l" rtl="0">
              <a:spcBef>
                <a:spcPts val="0"/>
              </a:spcBef>
              <a:spcAft>
                <a:spcPts val="0"/>
              </a:spcAft>
              <a:buNone/>
            </a:pPr>
            <a:r>
              <a:rPr lang="en-US" sz="1000" b="1" dirty="0">
                <a:solidFill>
                  <a:schemeClr val="dk2"/>
                </a:solidFill>
              </a:rPr>
              <a:t>Top savings-to-income months: </a:t>
            </a:r>
            <a:r>
              <a:rPr lang="en-US" sz="1000" dirty="0">
                <a:solidFill>
                  <a:schemeClr val="dk2"/>
                </a:solidFill>
              </a:rPr>
              <a:t>Identical to raw savings rankings; April 2020 leads, confirming the ratio behaves consistently</a:t>
            </a:r>
            <a:endParaRPr sz="1000" dirty="0">
              <a:solidFill>
                <a:schemeClr val="dk2"/>
              </a:solidFill>
            </a:endParaRPr>
          </a:p>
          <a:p>
            <a:pPr marL="158750" lvl="0" indent="0" algn="l" rtl="0">
              <a:spcBef>
                <a:spcPts val="0"/>
              </a:spcBef>
              <a:spcAft>
                <a:spcPts val="0"/>
              </a:spcAft>
              <a:buNone/>
            </a:pPr>
            <a:endParaRPr sz="1000" dirty="0">
              <a:solidFill>
                <a:schemeClr val="dk2"/>
              </a:solidFill>
            </a:endParaRPr>
          </a:p>
          <a:p>
            <a:pPr marL="0" lvl="0" indent="0" algn="l" rtl="0">
              <a:spcBef>
                <a:spcPts val="0"/>
              </a:spcBef>
              <a:spcAft>
                <a:spcPts val="0"/>
              </a:spcAft>
              <a:buNone/>
            </a:pPr>
            <a:r>
              <a:rPr lang="en-US" sz="1000" b="1" dirty="0">
                <a:solidFill>
                  <a:schemeClr val="dk2"/>
                </a:solidFill>
              </a:rPr>
              <a:t>Credit-to-income direction: </a:t>
            </a:r>
            <a:r>
              <a:rPr lang="en-US" sz="1000" dirty="0">
                <a:solidFill>
                  <a:schemeClr val="dk2"/>
                </a:solidFill>
              </a:rPr>
              <a:t>Higher values = more revolving debt relative to income, consistent with correlation findings (revolving credit is one of the strongest inverse signals to savings)</a:t>
            </a:r>
            <a:endParaRPr sz="1000" dirty="0">
              <a:solidFill>
                <a:schemeClr val="dk2"/>
              </a:solidFill>
            </a:endParaRPr>
          </a:p>
          <a:p>
            <a:pPr marL="158750" lvl="0" indent="0" algn="l" rtl="0">
              <a:spcBef>
                <a:spcPts val="0"/>
              </a:spcBef>
              <a:spcAft>
                <a:spcPts val="0"/>
              </a:spcAft>
              <a:buNone/>
            </a:pPr>
            <a:endParaRPr sz="1000" dirty="0">
              <a:solidFill>
                <a:schemeClr val="dk2"/>
              </a:solidFill>
            </a:endParaRPr>
          </a:p>
          <a:p>
            <a:pPr marL="0" lvl="0" indent="0" algn="l" rtl="0">
              <a:spcBef>
                <a:spcPts val="0"/>
              </a:spcBef>
              <a:spcAft>
                <a:spcPts val="0"/>
              </a:spcAft>
              <a:buNone/>
            </a:pPr>
            <a:r>
              <a:rPr lang="en-US" sz="1000" b="1" dirty="0">
                <a:solidFill>
                  <a:schemeClr val="dk2"/>
                </a:solidFill>
              </a:rPr>
              <a:t>Scale mismatch discovered: </a:t>
            </a:r>
            <a:r>
              <a:rPr lang="en-US" sz="1000" dirty="0">
                <a:solidFill>
                  <a:schemeClr val="dk2"/>
                </a:solidFill>
              </a:rPr>
              <a:t>Savings-to-income ranges from 0.00014–0.00177; credit-to-income ranges from 46–76; raw comparisons between them would be misleading, motivating </a:t>
            </a:r>
            <a:r>
              <a:rPr lang="en-US" sz="1000" dirty="0" err="1">
                <a:solidFill>
                  <a:schemeClr val="dk2"/>
                </a:solidFill>
              </a:rPr>
              <a:t>MinMaxScaler</a:t>
            </a:r>
            <a:r>
              <a:rPr lang="en-US" sz="1000" dirty="0">
                <a:solidFill>
                  <a:schemeClr val="dk2"/>
                </a:solidFill>
              </a:rPr>
              <a:t> normalization for regression</a:t>
            </a:r>
            <a:endParaRPr sz="1000" b="1" dirty="0">
              <a:solidFill>
                <a:schemeClr val="dk2"/>
              </a:solidFill>
            </a:endParaRPr>
          </a:p>
        </p:txBody>
      </p:sp>
      <p:sp>
        <p:nvSpPr>
          <p:cNvPr id="132" name="Google Shape;132;p7"/>
          <p:cNvSpPr/>
          <p:nvPr/>
        </p:nvSpPr>
        <p:spPr>
          <a:xfrm>
            <a:off x="729450" y="3779989"/>
            <a:ext cx="7688700" cy="7341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rgbClr val="000000"/>
              </a:buClr>
              <a:buSzPts val="1200"/>
              <a:buFont typeface="Arial"/>
              <a:buNone/>
            </a:pPr>
            <a:r>
              <a:rPr lang="en-US" sz="1000" b="1" dirty="0">
                <a:solidFill>
                  <a:schemeClr val="dk2"/>
                </a:solidFill>
              </a:rPr>
              <a:t>Implication for financial advisors and clients:</a:t>
            </a:r>
            <a:r>
              <a:rPr lang="en-US" sz="1000" dirty="0">
                <a:solidFill>
                  <a:schemeClr val="dk2"/>
                </a:solidFill>
              </a:rPr>
              <a:t> When a client's revolving debt is rising faster than their income, even as their nominal paycheck grows, then the data suggests that income gain is being absorbed by borrowing rather than converted into saving; monitoring a client's credit-to-income trajectory alongside their savings rate may be more diagnostic than either number alone</a:t>
            </a:r>
            <a:endParaRPr sz="800" b="1" dirty="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pic>
        <p:nvPicPr>
          <p:cNvPr id="137" name="Google Shape;137;p8" title="linear_model_predicted_vs_actual.png"/>
          <p:cNvPicPr preferRelativeResize="0"/>
          <p:nvPr/>
        </p:nvPicPr>
        <p:blipFill rotWithShape="1">
          <a:blip r:embed="rId3">
            <a:alphaModFix/>
          </a:blip>
          <a:srcRect/>
          <a:stretch/>
        </p:blipFill>
        <p:spPr>
          <a:xfrm>
            <a:off x="5821974" y="1596235"/>
            <a:ext cx="2596176" cy="2286340"/>
          </a:xfrm>
          <a:prstGeom prst="rect">
            <a:avLst/>
          </a:prstGeom>
          <a:noFill/>
          <a:ln>
            <a:noFill/>
          </a:ln>
          <a:effectLst>
            <a:outerShdw blurRad="190500" algn="tl" rotWithShape="0">
              <a:srgbClr val="000000">
                <a:alpha val="70196"/>
              </a:srgbClr>
            </a:outerShdw>
          </a:effectLst>
        </p:spPr>
      </p:pic>
      <p:sp>
        <p:nvSpPr>
          <p:cNvPr id="138" name="Google Shape;138;p8"/>
          <p:cNvSpPr txBox="1">
            <a:spLocks noGrp="1"/>
          </p:cNvSpPr>
          <p:nvPr>
            <p:ph type="title"/>
          </p:nvPr>
        </p:nvSpPr>
        <p:spPr>
          <a:xfrm>
            <a:off x="616037" y="38761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spcBef>
                <a:spcPts val="0"/>
              </a:spcBef>
              <a:spcAft>
                <a:spcPts val="0"/>
              </a:spcAft>
              <a:buClr>
                <a:srgbClr val="000000"/>
              </a:buClr>
              <a:buSzPct val="119658"/>
              <a:buFont typeface="Arial"/>
              <a:buNone/>
            </a:pPr>
            <a:r>
              <a:rPr lang="en-US" dirty="0"/>
              <a:t>Second-Degree Analysis Using Normalized Data (2) – Linear + Logistic Regression</a:t>
            </a:r>
            <a:endParaRPr dirty="0"/>
          </a:p>
          <a:p>
            <a:pPr marL="0" lvl="0" indent="0" algn="l" rtl="0">
              <a:spcBef>
                <a:spcPts val="0"/>
              </a:spcBef>
              <a:spcAft>
                <a:spcPts val="0"/>
              </a:spcAft>
              <a:buSzPct val="119658"/>
              <a:buNone/>
            </a:pPr>
            <a:endParaRPr dirty="0"/>
          </a:p>
          <a:p>
            <a:pPr marL="0" lvl="0" indent="0" algn="l" rtl="0">
              <a:spcBef>
                <a:spcPts val="0"/>
              </a:spcBef>
              <a:spcAft>
                <a:spcPts val="0"/>
              </a:spcAft>
              <a:buSzPct val="119658"/>
              <a:buNone/>
            </a:pPr>
            <a:endParaRPr dirty="0"/>
          </a:p>
          <a:p>
            <a:pPr marL="0" lvl="0" indent="0" algn="l" rtl="0">
              <a:lnSpc>
                <a:spcPct val="100000"/>
              </a:lnSpc>
              <a:spcBef>
                <a:spcPts val="0"/>
              </a:spcBef>
              <a:spcAft>
                <a:spcPts val="0"/>
              </a:spcAft>
              <a:buSzPct val="119658"/>
              <a:buNone/>
            </a:pPr>
            <a:endParaRPr dirty="0"/>
          </a:p>
        </p:txBody>
      </p:sp>
      <p:sp>
        <p:nvSpPr>
          <p:cNvPr id="139" name="Google Shape;139;p8"/>
          <p:cNvSpPr txBox="1"/>
          <p:nvPr/>
        </p:nvSpPr>
        <p:spPr>
          <a:xfrm>
            <a:off x="725849" y="1448100"/>
            <a:ext cx="5350500" cy="2247300"/>
          </a:xfrm>
          <a:prstGeom prst="rect">
            <a:avLst/>
          </a:prstGeom>
          <a:noFill/>
          <a:ln>
            <a:noFill/>
          </a:ln>
        </p:spPr>
        <p:txBody>
          <a:bodyPr spcFirstLastPara="1" wrap="square" lIns="91425" tIns="45700" rIns="91425" bIns="45700" anchor="t" anchorCtr="0">
            <a:spAutoFit/>
          </a:bodyPr>
          <a:lstStyle/>
          <a:p>
            <a:pPr marL="0" marR="381000" lvl="0" indent="0" algn="l" rtl="0">
              <a:lnSpc>
                <a:spcPct val="115000"/>
              </a:lnSpc>
              <a:spcBef>
                <a:spcPts val="1200"/>
              </a:spcBef>
              <a:spcAft>
                <a:spcPts val="0"/>
              </a:spcAft>
              <a:buNone/>
            </a:pPr>
            <a:r>
              <a:rPr lang="en-US" sz="800" b="1" dirty="0">
                <a:solidFill>
                  <a:schemeClr val="dk2"/>
                </a:solidFill>
              </a:rPr>
              <a:t>Why normalize first: </a:t>
            </a:r>
            <a:r>
              <a:rPr lang="en-US" sz="800" dirty="0">
                <a:solidFill>
                  <a:schemeClr val="dk2"/>
                </a:solidFill>
              </a:rPr>
              <a:t>12 features span different units (percentages, billions, index values) — scaling to 0–1 prevents any single feature from dominating due to magnitude alone</a:t>
            </a:r>
            <a:endParaRPr sz="800" dirty="0">
              <a:solidFill>
                <a:schemeClr val="dk2"/>
              </a:solidFill>
            </a:endParaRPr>
          </a:p>
          <a:p>
            <a:pPr marL="0" marR="381000" lvl="0" indent="0" algn="l" rtl="0">
              <a:lnSpc>
                <a:spcPct val="115000"/>
              </a:lnSpc>
              <a:spcBef>
                <a:spcPts val="1200"/>
              </a:spcBef>
              <a:spcAft>
                <a:spcPts val="0"/>
              </a:spcAft>
              <a:buNone/>
            </a:pPr>
            <a:r>
              <a:rPr lang="en-US" sz="800" b="1" dirty="0">
                <a:solidFill>
                  <a:schemeClr val="dk2"/>
                </a:solidFill>
              </a:rPr>
              <a:t>Linear model - top drivers: </a:t>
            </a:r>
            <a:r>
              <a:rPr lang="en-US" sz="800" dirty="0">
                <a:solidFill>
                  <a:schemeClr val="dk2"/>
                </a:solidFill>
              </a:rPr>
              <a:t>Real disposable income has the largest positive coefficient (+31.23); retail sales has the largest negative (−19.56), capturing the spending-vs-saving tradeoff</a:t>
            </a:r>
            <a:endParaRPr sz="800" dirty="0">
              <a:solidFill>
                <a:schemeClr val="dk2"/>
              </a:solidFill>
            </a:endParaRPr>
          </a:p>
          <a:p>
            <a:pPr marL="0" marR="381000" lvl="0" indent="0" algn="l" rtl="0">
              <a:lnSpc>
                <a:spcPct val="115000"/>
              </a:lnSpc>
              <a:spcBef>
                <a:spcPts val="1200"/>
              </a:spcBef>
              <a:spcAft>
                <a:spcPts val="0"/>
              </a:spcAft>
              <a:buNone/>
            </a:pPr>
            <a:r>
              <a:rPr lang="en-US" sz="800" b="1" dirty="0">
                <a:solidFill>
                  <a:schemeClr val="dk2"/>
                </a:solidFill>
              </a:rPr>
              <a:t>Model fit: </a:t>
            </a:r>
            <a:r>
              <a:rPr lang="en-US" sz="800" dirty="0">
                <a:solidFill>
                  <a:schemeClr val="dk2"/>
                </a:solidFill>
              </a:rPr>
              <a:t>R² = 0.983, RMSE = 0.6 pp - fits well, but high R² partly reflects strong collinearity among macro features (CPI, PCE, retail sales, home prices, earnings all move together)</a:t>
            </a:r>
            <a:endParaRPr sz="800" dirty="0">
              <a:solidFill>
                <a:schemeClr val="dk2"/>
              </a:solidFill>
            </a:endParaRPr>
          </a:p>
          <a:p>
            <a:pPr marL="0" marR="381000" lvl="0" indent="0" algn="l" rtl="0">
              <a:lnSpc>
                <a:spcPct val="115000"/>
              </a:lnSpc>
              <a:spcBef>
                <a:spcPts val="1200"/>
              </a:spcBef>
              <a:spcAft>
                <a:spcPts val="0"/>
              </a:spcAft>
              <a:buNone/>
            </a:pPr>
            <a:r>
              <a:rPr lang="en-US" sz="800" b="1" dirty="0">
                <a:solidFill>
                  <a:schemeClr val="dk2"/>
                </a:solidFill>
              </a:rPr>
              <a:t>Wages → spending, not saving: </a:t>
            </a:r>
            <a:r>
              <a:rPr lang="en-US" sz="800" dirty="0">
                <a:solidFill>
                  <a:schemeClr val="dk2"/>
                </a:solidFill>
              </a:rPr>
              <a:t>Hourly earnings carries a negative coefficient (−8.15) despite being an income measure - wage growth has been absorbed by consumption, consistent with the post-COVID era finding</a:t>
            </a:r>
            <a:endParaRPr sz="800" dirty="0">
              <a:solidFill>
                <a:schemeClr val="dk2"/>
              </a:solidFill>
            </a:endParaRPr>
          </a:p>
          <a:p>
            <a:pPr marL="0" marR="381000" lvl="0" indent="0" algn="l" rtl="0">
              <a:lnSpc>
                <a:spcPct val="115000"/>
              </a:lnSpc>
              <a:spcBef>
                <a:spcPts val="1200"/>
              </a:spcBef>
              <a:spcAft>
                <a:spcPts val="0"/>
              </a:spcAft>
              <a:buNone/>
            </a:pPr>
            <a:r>
              <a:rPr lang="en-US" sz="800" b="1" dirty="0">
                <a:solidFill>
                  <a:schemeClr val="dk2"/>
                </a:solidFill>
              </a:rPr>
              <a:t>Logistic model: </a:t>
            </a:r>
            <a:r>
              <a:rPr lang="en-US" sz="800" dirty="0">
                <a:solidFill>
                  <a:schemeClr val="dk2"/>
                </a:solidFill>
              </a:rPr>
              <a:t>83.3% accuracy classifying high- vs. low-savings months; 90.9%; 76.9% recall (caught ~77% of actual high-savings months)</a:t>
            </a:r>
            <a:endParaRPr sz="800" b="1" dirty="0">
              <a:solidFill>
                <a:schemeClr val="dk2"/>
              </a:solidFill>
            </a:endParaRPr>
          </a:p>
        </p:txBody>
      </p:sp>
      <p:sp>
        <p:nvSpPr>
          <p:cNvPr id="140" name="Google Shape;140;p8"/>
          <p:cNvSpPr/>
          <p:nvPr/>
        </p:nvSpPr>
        <p:spPr>
          <a:xfrm>
            <a:off x="729450" y="4288400"/>
            <a:ext cx="7688700" cy="5352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rgbClr val="000000"/>
              </a:buClr>
              <a:buSzPts val="1200"/>
              <a:buFont typeface="Arial"/>
              <a:buNone/>
            </a:pPr>
            <a:r>
              <a:rPr lang="en-US" sz="900" b="1">
                <a:solidFill>
                  <a:schemeClr val="dk2"/>
                </a:solidFill>
              </a:rPr>
              <a:t>Implication for financial advisors and clients:</a:t>
            </a:r>
            <a:r>
              <a:rPr lang="en-US" sz="900">
                <a:solidFill>
                  <a:schemeClr val="dk2"/>
                </a:solidFill>
              </a:rPr>
              <a:t> </a:t>
            </a:r>
            <a:r>
              <a:rPr lang="en-US" sz="900"/>
              <a:t>Advisors should not wait for a macro signal to initiate savings conversations; when consumer sentiment drops or inflation rises, proactive outreach is warranted even before the data fully confirms a shift in savings behavior</a:t>
            </a:r>
            <a:endParaRPr sz="900" b="1">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9"/>
          <p:cNvSpPr txBox="1">
            <a:spLocks noGrp="1"/>
          </p:cNvSpPr>
          <p:nvPr>
            <p:ph type="title"/>
          </p:nvPr>
        </p:nvSpPr>
        <p:spPr>
          <a:xfrm>
            <a:off x="559329" y="390074"/>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9658"/>
              <a:buNone/>
            </a:pPr>
            <a:r>
              <a:rPr lang="en-US" dirty="0"/>
              <a:t>Recommendations for Audience (Financial Advisors / Clients)</a:t>
            </a:r>
            <a:endParaRPr dirty="0"/>
          </a:p>
        </p:txBody>
      </p:sp>
      <p:sp>
        <p:nvSpPr>
          <p:cNvPr id="146" name="Google Shape;146;p9"/>
          <p:cNvSpPr txBox="1"/>
          <p:nvPr/>
        </p:nvSpPr>
        <p:spPr>
          <a:xfrm>
            <a:off x="559329" y="1677686"/>
            <a:ext cx="8153700" cy="23859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rgbClr val="000000"/>
              </a:buClr>
              <a:buSzPts val="1400"/>
              <a:buFont typeface="Arial"/>
              <a:buNone/>
            </a:pPr>
            <a:r>
              <a:rPr lang="en-US" sz="1000" b="1">
                <a:solidFill>
                  <a:schemeClr val="dk2"/>
                </a:solidFill>
              </a:rPr>
              <a:t>For clients: </a:t>
            </a:r>
            <a:r>
              <a:rPr lang="en-US" sz="1000">
                <a:solidFill>
                  <a:schemeClr val="dk2"/>
                </a:solidFill>
              </a:rPr>
              <a:t>Post-COVID macro tailwinds are gone. Hitting savings targets now requires actively countering inflation and credit, not just relying on income growth</a:t>
            </a:r>
            <a:endParaRPr sz="1000">
              <a:solidFill>
                <a:schemeClr val="dk2"/>
              </a:solidFill>
            </a:endParaRPr>
          </a:p>
          <a:p>
            <a:pPr marL="0" lvl="0" indent="0" algn="l" rtl="0">
              <a:spcBef>
                <a:spcPts val="0"/>
              </a:spcBef>
              <a:spcAft>
                <a:spcPts val="0"/>
              </a:spcAft>
              <a:buClr>
                <a:srgbClr val="000000"/>
              </a:buClr>
              <a:buSzPts val="1400"/>
              <a:buFont typeface="Arial"/>
              <a:buNone/>
            </a:pPr>
            <a:endParaRPr sz="1000">
              <a:solidFill>
                <a:schemeClr val="dk2"/>
              </a:solidFill>
            </a:endParaRPr>
          </a:p>
          <a:p>
            <a:pPr marL="0" lvl="0" indent="0" algn="l" rtl="0">
              <a:spcBef>
                <a:spcPts val="0"/>
              </a:spcBef>
              <a:spcAft>
                <a:spcPts val="0"/>
              </a:spcAft>
              <a:buClr>
                <a:srgbClr val="000000"/>
              </a:buClr>
              <a:buSzPts val="1400"/>
              <a:buFont typeface="Arial"/>
              <a:buNone/>
            </a:pPr>
            <a:r>
              <a:rPr lang="en-US" sz="1000" b="1">
                <a:solidFill>
                  <a:schemeClr val="dk2"/>
                </a:solidFill>
              </a:rPr>
              <a:t>For advisors: </a:t>
            </a:r>
            <a:r>
              <a:rPr lang="en-US" sz="1000">
                <a:solidFill>
                  <a:schemeClr val="dk2"/>
                </a:solidFill>
              </a:rPr>
              <a:t>Sentiment-led outreach: Falling consumer confidence signals a precautionary saving mindset; that's the window when savings conversations are most likely to land</a:t>
            </a:r>
            <a:endParaRPr sz="1000">
              <a:solidFill>
                <a:schemeClr val="dk2"/>
              </a:solidFill>
            </a:endParaRPr>
          </a:p>
          <a:p>
            <a:pPr marL="0" lvl="0" indent="0" algn="l" rtl="0">
              <a:spcBef>
                <a:spcPts val="0"/>
              </a:spcBef>
              <a:spcAft>
                <a:spcPts val="0"/>
              </a:spcAft>
              <a:buClr>
                <a:srgbClr val="000000"/>
              </a:buClr>
              <a:buSzPts val="1400"/>
              <a:buFont typeface="Arial"/>
              <a:buNone/>
            </a:pPr>
            <a:endParaRPr sz="1000" b="1">
              <a:solidFill>
                <a:schemeClr val="dk2"/>
              </a:solidFill>
            </a:endParaRPr>
          </a:p>
          <a:p>
            <a:pPr marL="0" lvl="0" indent="0" algn="l" rtl="0">
              <a:spcBef>
                <a:spcPts val="0"/>
              </a:spcBef>
              <a:spcAft>
                <a:spcPts val="0"/>
              </a:spcAft>
              <a:buClr>
                <a:srgbClr val="000000"/>
              </a:buClr>
              <a:buSzPts val="1400"/>
              <a:buFont typeface="Arial"/>
              <a:buNone/>
            </a:pPr>
            <a:r>
              <a:rPr lang="en-US" sz="1000" b="1">
                <a:solidFill>
                  <a:schemeClr val="dk2"/>
                </a:solidFill>
              </a:rPr>
              <a:t>Also for advisors: </a:t>
            </a:r>
            <a:r>
              <a:rPr lang="en-US" sz="1000">
                <a:solidFill>
                  <a:schemeClr val="dk2"/>
                </a:solidFill>
              </a:rPr>
              <a:t>Reset the baseline: 3-5% is the new realistic savings rate, not 6-8%; planning anchored on pre-pandemic averages will frustrate clients</a:t>
            </a:r>
            <a:endParaRPr sz="1000">
              <a:solidFill>
                <a:schemeClr val="dk2"/>
              </a:solidFill>
            </a:endParaRPr>
          </a:p>
          <a:p>
            <a:pPr marL="0" lvl="0" indent="0" algn="l" rtl="0">
              <a:spcBef>
                <a:spcPts val="0"/>
              </a:spcBef>
              <a:spcAft>
                <a:spcPts val="0"/>
              </a:spcAft>
              <a:buClr>
                <a:srgbClr val="000000"/>
              </a:buClr>
              <a:buSzPts val="1400"/>
              <a:buFont typeface="Arial"/>
              <a:buNone/>
            </a:pPr>
            <a:endParaRPr sz="1000" b="1">
              <a:solidFill>
                <a:schemeClr val="dk2"/>
              </a:solidFill>
            </a:endParaRPr>
          </a:p>
          <a:p>
            <a:pPr marL="0" lvl="0" indent="0" algn="l" rtl="0">
              <a:spcBef>
                <a:spcPts val="0"/>
              </a:spcBef>
              <a:spcAft>
                <a:spcPts val="0"/>
              </a:spcAft>
              <a:buClr>
                <a:srgbClr val="000000"/>
              </a:buClr>
              <a:buSzPts val="1400"/>
              <a:buFont typeface="Arial"/>
              <a:buNone/>
            </a:pPr>
            <a:r>
              <a:rPr lang="en-US" sz="1000" b="1">
                <a:solidFill>
                  <a:schemeClr val="dk2"/>
                </a:solidFill>
              </a:rPr>
              <a:t>Watch three early warning signals: </a:t>
            </a:r>
            <a:r>
              <a:rPr lang="en-US" sz="1000">
                <a:solidFill>
                  <a:schemeClr val="dk2"/>
                </a:solidFill>
              </a:rPr>
              <a:t>Rising CPI/PCE (inflation eroding purchasing power), growing revolving credit balances, and falling consumer sentiment</a:t>
            </a:r>
            <a:endParaRPr sz="1000">
              <a:solidFill>
                <a:schemeClr val="dk2"/>
              </a:solidFill>
            </a:endParaRPr>
          </a:p>
          <a:p>
            <a:pPr marL="0" lvl="0" indent="0" algn="l" rtl="0">
              <a:spcBef>
                <a:spcPts val="0"/>
              </a:spcBef>
              <a:spcAft>
                <a:spcPts val="0"/>
              </a:spcAft>
              <a:buClr>
                <a:srgbClr val="000000"/>
              </a:buClr>
              <a:buSzPts val="1400"/>
              <a:buFont typeface="Arial"/>
              <a:buNone/>
            </a:pPr>
            <a:endParaRPr sz="1000">
              <a:solidFill>
                <a:schemeClr val="dk2"/>
              </a:solidFill>
            </a:endParaRPr>
          </a:p>
          <a:p>
            <a:pPr marL="0" lvl="0" indent="0" algn="l" rtl="0">
              <a:spcBef>
                <a:spcPts val="0"/>
              </a:spcBef>
              <a:spcAft>
                <a:spcPts val="0"/>
              </a:spcAft>
              <a:buClr>
                <a:srgbClr val="000000"/>
              </a:buClr>
              <a:buSzPts val="1400"/>
              <a:buFont typeface="Arial"/>
              <a:buNone/>
            </a:pPr>
            <a:r>
              <a:rPr lang="en-US" sz="1000" b="1">
                <a:solidFill>
                  <a:schemeClr val="dk2"/>
                </a:solidFill>
              </a:rPr>
              <a:t>Future work: </a:t>
            </a:r>
            <a:r>
              <a:rPr lang="en-US" sz="1000">
                <a:solidFill>
                  <a:schemeClr val="dk2"/>
                </a:solidFill>
              </a:rPr>
              <a:t>Chronological train/test split (train 2015-22, test 2023-24) for more conservative model performance, add mortgage rates, credit card delinquency rates, and labor force participation to deepen the analysis</a:t>
            </a:r>
            <a:endParaRPr sz="900" b="1">
              <a:solidFill>
                <a:schemeClr val="dk2"/>
              </a:solidFill>
            </a:endParaRPr>
          </a:p>
          <a:p>
            <a:pPr marL="0" marR="0" lvl="0" indent="0" algn="l" rtl="0">
              <a:lnSpc>
                <a:spcPct val="100000"/>
              </a:lnSpc>
              <a:spcBef>
                <a:spcPts val="0"/>
              </a:spcBef>
              <a:spcAft>
                <a:spcPts val="0"/>
              </a:spcAft>
              <a:buNone/>
            </a:pPr>
            <a:endParaRPr sz="900" b="1"/>
          </a:p>
        </p:txBody>
      </p:sp>
    </p:spTree>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1594</Words>
  <Application>Microsoft Office PowerPoint</Application>
  <PresentationFormat>On-screen Show (16:9)</PresentationFormat>
  <Paragraphs>119</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Raleway</vt:lpstr>
      <vt:lpstr>Arial</vt:lpstr>
      <vt:lpstr>Lato</vt:lpstr>
      <vt:lpstr>Streamline</vt:lpstr>
      <vt:lpstr>Federal Reserve Economic Data (FRED): Exploratory Data Analysis</vt:lpstr>
      <vt:lpstr>Target Audience &amp; Research Question</vt:lpstr>
      <vt:lpstr>Initial Data Inspection &amp; Data Cleaning Findings</vt:lpstr>
      <vt:lpstr>Initial Analysis of Savings Rates Findings</vt:lpstr>
      <vt:lpstr>Correlations Between Savings Rate &amp; Other Series </vt:lpstr>
      <vt:lpstr>Era Comparisons &amp; COVID vs. Non-COVID  </vt:lpstr>
      <vt:lpstr>Second-Degree Analysis and Findings Using Normalized Data (1)  </vt:lpstr>
      <vt:lpstr>Second-Degree Analysis Using Normalized Data (2) – Linear + Logistic Regression   </vt:lpstr>
      <vt:lpstr>Recommendations for Audience (Financial Advisors / Clients)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 G</dc:creator>
  <cp:lastModifiedBy>J G</cp:lastModifiedBy>
  <cp:revision>2</cp:revision>
  <dcterms:modified xsi:type="dcterms:W3CDTF">2026-05-26T02:59:16Z</dcterms:modified>
</cp:coreProperties>
</file>